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7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  <p:sldId id="279" r:id="rId25"/>
    <p:sldId id="280" r:id="rId26"/>
    <p:sldId id="281" r:id="rId27"/>
    <p:sldId id="282" r:id="rId28"/>
    <p:sldId id="283" r:id="rId29"/>
    <p:sldId id="276" r:id="rId30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.png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arxiv.org/abs/2511.13720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baoyingshenjing/ML_JIT" TargetMode="Externa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1778000"/>
            <a:ext cx="82169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0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Back to Basics: Let Denoising Generative Models Denoise</a:t>
            </a:r>
            <a:endParaRPr lang="en-US" sz="40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2000" y="3556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JiT模型复现与改进实验</a:t>
            </a:r>
            <a:endParaRPr lang="en-US" sz="24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2000" y="4318000"/>
            <a:ext cx="2540000" cy="381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6" name="Text 3"/>
          <p:cNvSpPr/>
          <p:nvPr/>
        </p:nvSpPr>
        <p:spPr>
          <a:xfrm>
            <a:off x="762000" y="4699000"/>
            <a:ext cx="8890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课程名称：</a:t>
            </a:r>
            <a:r>
              <a:rPr lang="en-US" sz="2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机器学习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团队成员：</a:t>
            </a:r>
            <a:r>
              <a:rPr lang="en-US" sz="2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杜承敖、肖昌珅、金奕辰、全坤</a:t>
            </a:r>
            <a:endParaRPr lang="en-US" sz="28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l">
              <a:lnSpc>
                <a:spcPct val="180000"/>
              </a:lnSpc>
            </a:pPr>
            <a:r>
              <a:rPr 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指导</a:t>
            </a:r>
            <a:r>
              <a:rPr lang="zh-CN" alt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老师</a:t>
            </a:r>
            <a:r>
              <a:rPr 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：</a:t>
            </a:r>
            <a:r>
              <a:rPr lang="en-US" sz="2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武宇</a:t>
            </a:r>
            <a:endParaRPr 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2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指导单位：</a:t>
            </a:r>
            <a:r>
              <a:rPr lang="en-US" sz="2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武汉大学</a:t>
            </a:r>
            <a:r>
              <a:rPr lang="zh-CN" altLang="en-US" sz="2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计算机学院</a:t>
            </a:r>
            <a:endParaRPr lang="zh-CN" altLang="en-US" sz="28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1" name="Image 1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325" y="425450"/>
            <a:ext cx="609600" cy="60960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9753600" y="0"/>
            <a:ext cx="6502400" cy="9144000"/>
            <a:chOff x="15360" y="0"/>
            <a:chExt cx="10240" cy="14400"/>
          </a:xfrm>
        </p:grpSpPr>
        <p:sp>
          <p:nvSpPr>
            <p:cNvPr id="15" name="Shape 0"/>
            <p:cNvSpPr/>
            <p:nvPr/>
          </p:nvSpPr>
          <p:spPr>
            <a:xfrm>
              <a:off x="15360" y="0"/>
              <a:ext cx="10240" cy="14400"/>
            </a:xfrm>
            <a:prstGeom prst="rect">
              <a:avLst/>
            </a:prstGeom>
            <a:solidFill>
              <a:srgbClr val="115740"/>
            </a:solidFill>
          </p:spPr>
        </p:sp>
        <p:grpSp>
          <p:nvGrpSpPr>
            <p:cNvPr id="16" name="组合 15"/>
            <p:cNvGrpSpPr/>
            <p:nvPr/>
          </p:nvGrpSpPr>
          <p:grpSpPr>
            <a:xfrm>
              <a:off x="16760" y="3600"/>
              <a:ext cx="7440" cy="8800"/>
              <a:chOff x="16760" y="3600"/>
              <a:chExt cx="7440" cy="8800"/>
            </a:xfrm>
          </p:grpSpPr>
          <p:pic>
            <p:nvPicPr>
              <p:cNvPr id="17" name="Image 0" descr="https://kimi-img.moonshot.cn/pub/slides/okc/pf5z2q2q76cqy/mnt/agents/images/1__Logo_PNG_SVG_AI_.png"/>
              <p:cNvPicPr>
                <a:picLocks noChangeAspect="1"/>
              </p:cNvPicPr>
              <p:nvPr/>
            </p:nvPicPr>
            <p:blipFill>
              <a:blip r:embed="rId1">
                <a:alphaModFix amt="15000"/>
              </a:blip>
              <a:stretch>
                <a:fillRect/>
              </a:stretch>
            </p:blipFill>
            <p:spPr>
              <a:xfrm>
                <a:off x="16760" y="3600"/>
                <a:ext cx="7440" cy="7440"/>
              </a:xfrm>
              <a:prstGeom prst="rect">
                <a:avLst/>
              </a:prstGeom>
            </p:spPr>
          </p:pic>
          <p:sp>
            <p:nvSpPr>
              <p:cNvPr id="18" name="Text 7"/>
              <p:cNvSpPr/>
              <p:nvPr/>
            </p:nvSpPr>
            <p:spPr>
              <a:xfrm>
                <a:off x="16760" y="11600"/>
                <a:ext cx="7440" cy="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kern="0" spc="40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Quattrocento Sans" pitchFamily="34" charset="-120"/>
                  </a:rPr>
                  <a:t>WHU · Machine Learning</a:t>
                </a:r>
                <a:endParaRPr lang="en-US" kern="0" spc="4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Quattrocento Sans" pitchFamily="34" charset="-120"/>
                </a:endParaRP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93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kern="0" spc="600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CONTENTS</a:t>
            </a:r>
            <a:endParaRPr lang="en-US" sz="4200" b="1" kern="0" spc="600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048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目录</a:t>
            </a:r>
            <a:endParaRPr lang="en-US" sz="3600" b="1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00" y="3683000"/>
            <a:ext cx="762000" cy="38100"/>
          </a:xfrm>
          <a:prstGeom prst="rect">
            <a:avLst/>
          </a:prstGeom>
          <a:solidFill>
            <a:srgbClr val="115740"/>
          </a:solidFill>
        </p:spPr>
      </p:sp>
      <p:grpSp>
        <p:nvGrpSpPr>
          <p:cNvPr id="26" name="组合 25"/>
          <p:cNvGrpSpPr/>
          <p:nvPr>
            <p:custDataLst>
              <p:tags r:id="rId1"/>
            </p:custDataLst>
          </p:nvPr>
        </p:nvGrpSpPr>
        <p:grpSpPr>
          <a:xfrm>
            <a:off x="4826000" y="1946910"/>
            <a:ext cx="11176000" cy="5419090"/>
            <a:chOff x="7600" y="2000"/>
            <a:chExt cx="17600" cy="6600"/>
          </a:xfrm>
        </p:grpSpPr>
        <p:sp>
          <p:nvSpPr>
            <p:cNvPr id="5" name="Shape 3"/>
            <p:cNvSpPr/>
            <p:nvPr>
              <p:custDataLst>
                <p:tags r:id="rId2"/>
              </p:custDataLst>
            </p:nvPr>
          </p:nvSpPr>
          <p:spPr>
            <a:xfrm>
              <a:off x="7600" y="2000"/>
              <a:ext cx="8400" cy="1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6" name="Text 4"/>
            <p:cNvSpPr/>
            <p:nvPr>
              <p:custDataLst>
                <p:tags r:id="rId3"/>
              </p:custDataLst>
            </p:nvPr>
          </p:nvSpPr>
          <p:spPr>
            <a:xfrm>
              <a:off x="8000" y="2100"/>
              <a:ext cx="1200" cy="8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01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7" name="Text 5"/>
            <p:cNvSpPr/>
            <p:nvPr>
              <p:custDataLst>
                <p:tags r:id="rId4"/>
              </p:custDataLst>
            </p:nvPr>
          </p:nvSpPr>
          <p:spPr>
            <a:xfrm>
              <a:off x="9400" y="216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0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项目背景与JiT模型概述</a:t>
              </a:r>
              <a:endParaRPr lang="en-US" sz="20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 6"/>
            <p:cNvSpPr/>
            <p:nvPr>
              <p:custDataLst>
                <p:tags r:id="rId5"/>
              </p:custDataLst>
            </p:nvPr>
          </p:nvSpPr>
          <p:spPr>
            <a:xfrm>
              <a:off x="9400" y="290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5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Flow Matching框架与复现配置</a:t>
              </a:r>
              <a:endPara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Shape 7"/>
            <p:cNvSpPr/>
            <p:nvPr>
              <p:custDataLst>
                <p:tags r:id="rId6"/>
              </p:custDataLst>
            </p:nvPr>
          </p:nvSpPr>
          <p:spPr>
            <a:xfrm>
              <a:off x="16800" y="2000"/>
              <a:ext cx="8400" cy="1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10" name="Text 8"/>
            <p:cNvSpPr/>
            <p:nvPr>
              <p:custDataLst>
                <p:tags r:id="rId7"/>
              </p:custDataLst>
            </p:nvPr>
          </p:nvSpPr>
          <p:spPr>
            <a:xfrm>
              <a:off x="17200" y="2100"/>
              <a:ext cx="1200" cy="8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02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1" name="Text 9"/>
            <p:cNvSpPr/>
            <p:nvPr>
              <p:custDataLst>
                <p:tags r:id="rId8"/>
              </p:custDataLst>
            </p:nvPr>
          </p:nvSpPr>
          <p:spPr>
            <a:xfrm>
              <a:off x="18600" y="216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0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Baseline复现</a:t>
              </a:r>
              <a:endParaRPr lang="en-US" sz="20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 10"/>
            <p:cNvSpPr/>
            <p:nvPr>
              <p:custDataLst>
                <p:tags r:id="rId9"/>
              </p:custDataLst>
            </p:nvPr>
          </p:nvSpPr>
          <p:spPr>
            <a:xfrm>
              <a:off x="18600" y="290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5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工程搭建、训练配置与收敛验证</a:t>
              </a:r>
              <a:endPara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3" name="Shape 11"/>
            <p:cNvSpPr/>
            <p:nvPr>
              <p:custDataLst>
                <p:tags r:id="rId10"/>
              </p:custDataLst>
            </p:nvPr>
          </p:nvSpPr>
          <p:spPr>
            <a:xfrm>
              <a:off x="7600" y="4400"/>
              <a:ext cx="8400" cy="1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14" name="Text 12"/>
            <p:cNvSpPr/>
            <p:nvPr>
              <p:custDataLst>
                <p:tags r:id="rId11"/>
              </p:custDataLst>
            </p:nvPr>
          </p:nvSpPr>
          <p:spPr>
            <a:xfrm>
              <a:off x="8000" y="4500"/>
              <a:ext cx="1200" cy="8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03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5" name="Text 13"/>
            <p:cNvSpPr/>
            <p:nvPr>
              <p:custDataLst>
                <p:tags r:id="rId12"/>
              </p:custDataLst>
            </p:nvPr>
          </p:nvSpPr>
          <p:spPr>
            <a:xfrm>
              <a:off x="9400" y="456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0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改进算法一：SNP</a:t>
              </a:r>
              <a:endParaRPr lang="en-US" sz="20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 14"/>
            <p:cNvSpPr/>
            <p:nvPr>
              <p:custDataLst>
                <p:tags r:id="rId13"/>
              </p:custDataLst>
            </p:nvPr>
          </p:nvSpPr>
          <p:spPr>
            <a:xfrm>
              <a:off x="9400" y="530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5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结构化噪声过程与多样性提升</a:t>
              </a:r>
              <a:endPara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7" name="Shape 15"/>
            <p:cNvSpPr/>
            <p:nvPr>
              <p:custDataLst>
                <p:tags r:id="rId14"/>
              </p:custDataLst>
            </p:nvPr>
          </p:nvSpPr>
          <p:spPr>
            <a:xfrm>
              <a:off x="16800" y="4400"/>
              <a:ext cx="8400" cy="1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18" name="Text 16"/>
            <p:cNvSpPr/>
            <p:nvPr>
              <p:custDataLst>
                <p:tags r:id="rId15"/>
              </p:custDataLst>
            </p:nvPr>
          </p:nvSpPr>
          <p:spPr>
            <a:xfrm>
              <a:off x="17200" y="4500"/>
              <a:ext cx="1200" cy="8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04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9" name="Text 17"/>
            <p:cNvSpPr/>
            <p:nvPr>
              <p:custDataLst>
                <p:tags r:id="rId16"/>
              </p:custDataLst>
            </p:nvPr>
          </p:nvSpPr>
          <p:spPr>
            <a:xfrm>
              <a:off x="18600" y="456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0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改进算法二：TCTM</a:t>
              </a:r>
              <a:endParaRPr lang="en-US" sz="20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 18"/>
            <p:cNvSpPr/>
            <p:nvPr>
              <p:custDataLst>
                <p:tags r:id="rId17"/>
              </p:custDataLst>
            </p:nvPr>
          </p:nvSpPr>
          <p:spPr>
            <a:xfrm>
              <a:off x="18600" y="530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5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时间条件采样加速与速度-质量权衡</a:t>
              </a:r>
              <a:endPara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Shape 19"/>
            <p:cNvSpPr/>
            <p:nvPr>
              <p:custDataLst>
                <p:tags r:id="rId18"/>
              </p:custDataLst>
            </p:nvPr>
          </p:nvSpPr>
          <p:spPr>
            <a:xfrm>
              <a:off x="7600" y="6800"/>
              <a:ext cx="8400" cy="1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22" name="Text 20"/>
            <p:cNvSpPr/>
            <p:nvPr>
              <p:custDataLst>
                <p:tags r:id="rId19"/>
              </p:custDataLst>
            </p:nvPr>
          </p:nvSpPr>
          <p:spPr>
            <a:xfrm>
              <a:off x="8000" y="6900"/>
              <a:ext cx="1200" cy="8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05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3" name="Text 21"/>
            <p:cNvSpPr/>
            <p:nvPr>
              <p:custDataLst>
                <p:tags r:id="rId20"/>
              </p:custDataLst>
            </p:nvPr>
          </p:nvSpPr>
          <p:spPr>
            <a:xfrm>
              <a:off x="9400" y="696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0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综合结论与展望</a:t>
              </a:r>
              <a:endParaRPr lang="en-US" sz="20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4" name="Text 22"/>
            <p:cNvSpPr/>
            <p:nvPr>
              <p:custDataLst>
                <p:tags r:id="rId21"/>
              </p:custDataLst>
            </p:nvPr>
          </p:nvSpPr>
          <p:spPr>
            <a:xfrm>
              <a:off x="9400" y="7700"/>
              <a:ext cx="62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5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方法对比、局限分析与未来方向</a:t>
              </a:r>
              <a:endPara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pic>
        <p:nvPicPr>
          <p:cNvPr id="27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22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8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项目背景与JiT模型概述</a:t>
            </a:r>
            <a:endParaRPr lang="en-US"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 Matching框架下的图像生成模型复现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1524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/>
        </p:nvGrpSpPr>
        <p:grpSpPr>
          <a:xfrm>
            <a:off x="0" y="0"/>
            <a:ext cx="16256000" cy="1193800"/>
            <a:chOff x="0" y="0"/>
            <a:chExt cx="25600" cy="188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25600" cy="72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8" name="Text 1"/>
            <p:cNvSpPr/>
            <p:nvPr/>
          </p:nvSpPr>
          <p:spPr>
            <a:xfrm>
              <a:off x="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项目背景</a:t>
              </a:r>
              <a:endPara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 2"/>
            <p:cNvSpPr/>
            <p:nvPr/>
          </p:nvSpPr>
          <p:spPr>
            <a:xfrm>
              <a:off x="512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Baseline复现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 3"/>
            <p:cNvSpPr/>
            <p:nvPr/>
          </p:nvSpPr>
          <p:spPr>
            <a:xfrm>
              <a:off x="1024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SNP改进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 4"/>
            <p:cNvSpPr/>
            <p:nvPr/>
          </p:nvSpPr>
          <p:spPr>
            <a:xfrm>
              <a:off x="1536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TCTM加速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 5"/>
            <p:cNvSpPr/>
            <p:nvPr/>
          </p:nvSpPr>
          <p:spPr>
            <a:xfrm>
              <a:off x="20480" y="0"/>
              <a:ext cx="3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结论与展望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 6"/>
            <p:cNvSpPr/>
            <p:nvPr/>
          </p:nvSpPr>
          <p:spPr>
            <a:xfrm>
              <a:off x="1200" y="1040"/>
              <a:ext cx="140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JiT模型</a:t>
              </a:r>
              <a:r>
                <a:rPr lang="zh-CN" alt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背景</a:t>
              </a:r>
              <a:endParaRPr lang="zh-CN" alt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Shape 7"/>
            <p:cNvSpPr/>
            <p:nvPr/>
          </p:nvSpPr>
          <p:spPr>
            <a:xfrm>
              <a:off x="1200" y="1840"/>
              <a:ext cx="3200" cy="40"/>
            </a:xfrm>
            <a:prstGeom prst="rect">
              <a:avLst/>
            </a:prstGeom>
            <a:solidFill>
              <a:srgbClr val="115740"/>
            </a:solidFill>
          </p:spPr>
        </p:sp>
        <p:pic>
          <p:nvPicPr>
            <p:cNvPr id="30" name="Image 0" descr="https://kimi-img.moonshot.cn/pub/slides/okc/pf5z2q2q76cqy/mnt/agents/images/1__Logo_PNG_SVG_AI_.png"/>
            <p:cNvPicPr>
              <a:picLocks noChangeAspect="1"/>
            </p:cNvPicPr>
            <p:nvPr/>
          </p:nvPicPr>
          <p:blipFill>
            <a:blip r:embed="rId1">
              <a:alphaModFix amt="40000"/>
            </a:blip>
            <a:stretch>
              <a:fillRect/>
            </a:stretch>
          </p:blipFill>
          <p:spPr>
            <a:xfrm>
              <a:off x="24560" y="1100"/>
              <a:ext cx="720" cy="720"/>
            </a:xfrm>
            <a:prstGeom prst="rect">
              <a:avLst/>
            </a:prstGeom>
          </p:spPr>
        </p:pic>
      </p:grpSp>
      <p:sp>
        <p:nvSpPr>
          <p:cNvPr id="27" name="Content Placeholder 2"/>
          <p:cNvSpPr>
            <a:spLocks noGrp="1"/>
          </p:cNvSpPr>
          <p:nvPr/>
        </p:nvSpPr>
        <p:spPr>
          <a:xfrm>
            <a:off x="457200" y="2547620"/>
            <a:ext cx="8229600" cy="5478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Just image Transformer（Li &amp; He, 2025）</a:t>
            </a:r>
            <a:endParaRPr 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 Transformer 流匹配（Flow Matching）生成模型，像素空间直接合成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架构：瓶颈分块嵌入（3→128→768，块大小=16）+ 12层 Transformer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条件注入：第4层插入32个可学习类别令牌（In-Context Tokens）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位置编码：2D旋转位置编码（RoPE），自适应层归一化（adaLN-Zero）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采样：Heun二阶ODE求解器，50步，无分类器引导（CFG=2.2–3.0）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JiT-B/16：130M 参数，ImageNet-1K 256×256，FID=2.1（当前最优）</a:t>
            </a:r>
            <a:endParaRPr 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sz="24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sz="24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sz="24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654300"/>
            <a:ext cx="7244080" cy="546481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016000" y="1510030"/>
            <a:ext cx="1422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  <a:hlinkClick r:id="rId3" action="ppaction://hlinkfile"/>
              </a:rPr>
              <a:t>Back to Basics: Let Denoising Generative Models Denoise</a:t>
            </a:r>
            <a:endParaRPr lang="en-US" altLang="zh-CN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8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JiT（Just image Transformer）在 flow matching 框架下直接预测干净图像 </a:t>
            </a:r>
            <a:r>
              <a:rPr lang="en-US" sz="1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x₀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，使用简洁的 ViT 式骨干网络完成类条件图像生成。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2349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6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14" name="Text 11"/>
          <p:cNvSpPr/>
          <p:nvPr/>
        </p:nvSpPr>
        <p:spPr>
          <a:xfrm>
            <a:off x="1549400" y="25400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模型架构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6000" y="3111500"/>
            <a:ext cx="4191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Bottleneck patch embedding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12层 Transformer block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RoPE 位置编码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adaLN 条件调制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In-context class tokens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78500" y="2349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25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18" name="Text 15"/>
          <p:cNvSpPr/>
          <p:nvPr/>
        </p:nvSpPr>
        <p:spPr>
          <a:xfrm>
            <a:off x="6565900" y="25400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训练目标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32500" y="3111500"/>
            <a:ext cx="4191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Logit-normal 时间步采样 t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构造 z_t = t·x + (1-t)·e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模型输出 x_pred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推出 velocity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与真实 flow velocity 计算 MSE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795000" y="2349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049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5843" y="-21431"/>
                </a:moveTo>
                <a:lnTo>
                  <a:pt x="196286" y="7779"/>
                </a:lnTo>
                <a:lnTo>
                  <a:pt x="222250" y="19526"/>
                </a:lnTo>
                <a:cubicBezTo>
                  <a:pt x="224367" y="20479"/>
                  <a:pt x="225778" y="22860"/>
                  <a:pt x="225778" y="25400"/>
                </a:cubicBezTo>
                <a:cubicBezTo>
                  <a:pt x="225778" y="27940"/>
                  <a:pt x="224367" y="30321"/>
                  <a:pt x="222250" y="31274"/>
                </a:cubicBezTo>
                <a:lnTo>
                  <a:pt x="196286" y="43021"/>
                </a:lnTo>
                <a:lnTo>
                  <a:pt x="185843" y="72231"/>
                </a:lnTo>
                <a:cubicBezTo>
                  <a:pt x="184997" y="74613"/>
                  <a:pt x="182880" y="76200"/>
                  <a:pt x="180622" y="76200"/>
                </a:cubicBezTo>
                <a:cubicBezTo>
                  <a:pt x="178364" y="76200"/>
                  <a:pt x="176248" y="74613"/>
                  <a:pt x="175401" y="72231"/>
                </a:cubicBezTo>
                <a:lnTo>
                  <a:pt x="164959" y="43021"/>
                </a:lnTo>
                <a:lnTo>
                  <a:pt x="138994" y="31274"/>
                </a:lnTo>
                <a:cubicBezTo>
                  <a:pt x="136878" y="30321"/>
                  <a:pt x="135467" y="27940"/>
                  <a:pt x="135467" y="25400"/>
                </a:cubicBezTo>
                <a:cubicBezTo>
                  <a:pt x="135467" y="22860"/>
                  <a:pt x="136878" y="20479"/>
                  <a:pt x="138994" y="19526"/>
                </a:cubicBezTo>
                <a:lnTo>
                  <a:pt x="164959" y="7779"/>
                </a:lnTo>
                <a:lnTo>
                  <a:pt x="175401" y="-21431"/>
                </a:lnTo>
                <a:cubicBezTo>
                  <a:pt x="176248" y="-23812"/>
                  <a:pt x="178364" y="-25400"/>
                  <a:pt x="180622" y="-25400"/>
                </a:cubicBezTo>
                <a:cubicBezTo>
                  <a:pt x="182880" y="-25400"/>
                  <a:pt x="184997" y="-23812"/>
                  <a:pt x="185843" y="-21431"/>
                </a:cubicBezTo>
                <a:close/>
                <a:moveTo>
                  <a:pt x="78105" y="33099"/>
                </a:moveTo>
                <a:lnTo>
                  <a:pt x="93274" y="72866"/>
                </a:lnTo>
                <a:lnTo>
                  <a:pt x="128623" y="89932"/>
                </a:lnTo>
                <a:cubicBezTo>
                  <a:pt x="132786" y="91916"/>
                  <a:pt x="135467" y="96520"/>
                  <a:pt x="135467" y="101600"/>
                </a:cubicBezTo>
                <a:cubicBezTo>
                  <a:pt x="135467" y="106680"/>
                  <a:pt x="132786" y="111284"/>
                  <a:pt x="128623" y="113268"/>
                </a:cubicBezTo>
                <a:lnTo>
                  <a:pt x="93274" y="130334"/>
                </a:lnTo>
                <a:lnTo>
                  <a:pt x="78105" y="170101"/>
                </a:lnTo>
                <a:cubicBezTo>
                  <a:pt x="76341" y="174784"/>
                  <a:pt x="72249" y="177800"/>
                  <a:pt x="67733" y="177800"/>
                </a:cubicBezTo>
                <a:cubicBezTo>
                  <a:pt x="63218" y="177800"/>
                  <a:pt x="59126" y="174784"/>
                  <a:pt x="57362" y="170101"/>
                </a:cubicBezTo>
                <a:lnTo>
                  <a:pt x="42192" y="130334"/>
                </a:lnTo>
                <a:lnTo>
                  <a:pt x="6844" y="113268"/>
                </a:lnTo>
                <a:cubicBezTo>
                  <a:pt x="2681" y="111284"/>
                  <a:pt x="0" y="106680"/>
                  <a:pt x="0" y="101600"/>
                </a:cubicBezTo>
                <a:cubicBezTo>
                  <a:pt x="0" y="96520"/>
                  <a:pt x="2681" y="91916"/>
                  <a:pt x="6844" y="89932"/>
                </a:cubicBezTo>
                <a:lnTo>
                  <a:pt x="42192" y="72866"/>
                </a:lnTo>
                <a:lnTo>
                  <a:pt x="57362" y="33099"/>
                </a:lnTo>
                <a:cubicBezTo>
                  <a:pt x="59126" y="28416"/>
                  <a:pt x="63218" y="25400"/>
                  <a:pt x="67733" y="25400"/>
                </a:cubicBezTo>
                <a:cubicBezTo>
                  <a:pt x="72249" y="25400"/>
                  <a:pt x="76341" y="28416"/>
                  <a:pt x="78105" y="33099"/>
                </a:cubicBezTo>
                <a:close/>
                <a:moveTo>
                  <a:pt x="327378" y="241300"/>
                </a:moveTo>
                <a:cubicBezTo>
                  <a:pt x="331893" y="241300"/>
                  <a:pt x="335986" y="244316"/>
                  <a:pt x="337749" y="248999"/>
                </a:cubicBezTo>
                <a:lnTo>
                  <a:pt x="352919" y="288766"/>
                </a:lnTo>
                <a:lnTo>
                  <a:pt x="388267" y="305832"/>
                </a:lnTo>
                <a:cubicBezTo>
                  <a:pt x="392430" y="307816"/>
                  <a:pt x="395111" y="312420"/>
                  <a:pt x="395111" y="317500"/>
                </a:cubicBezTo>
                <a:cubicBezTo>
                  <a:pt x="395111" y="322580"/>
                  <a:pt x="392430" y="327184"/>
                  <a:pt x="388267" y="329168"/>
                </a:cubicBezTo>
                <a:lnTo>
                  <a:pt x="352919" y="346234"/>
                </a:lnTo>
                <a:lnTo>
                  <a:pt x="337749" y="386001"/>
                </a:lnTo>
                <a:cubicBezTo>
                  <a:pt x="335986" y="390684"/>
                  <a:pt x="331893" y="393700"/>
                  <a:pt x="327378" y="393700"/>
                </a:cubicBezTo>
                <a:cubicBezTo>
                  <a:pt x="322862" y="393700"/>
                  <a:pt x="318770" y="390684"/>
                  <a:pt x="317006" y="386001"/>
                </a:cubicBezTo>
                <a:lnTo>
                  <a:pt x="301837" y="346234"/>
                </a:lnTo>
                <a:lnTo>
                  <a:pt x="266488" y="329168"/>
                </a:lnTo>
                <a:cubicBezTo>
                  <a:pt x="262326" y="327184"/>
                  <a:pt x="259644" y="322580"/>
                  <a:pt x="259644" y="317500"/>
                </a:cubicBezTo>
                <a:cubicBezTo>
                  <a:pt x="259644" y="312420"/>
                  <a:pt x="262326" y="307816"/>
                  <a:pt x="266488" y="305832"/>
                </a:cubicBezTo>
                <a:lnTo>
                  <a:pt x="301837" y="288766"/>
                </a:lnTo>
                <a:lnTo>
                  <a:pt x="317006" y="248999"/>
                </a:lnTo>
                <a:cubicBezTo>
                  <a:pt x="318770" y="244316"/>
                  <a:pt x="322862" y="241300"/>
                  <a:pt x="327378" y="241300"/>
                </a:cubicBezTo>
                <a:close/>
                <a:moveTo>
                  <a:pt x="324556" y="0"/>
                </a:moveTo>
                <a:cubicBezTo>
                  <a:pt x="332317" y="0"/>
                  <a:pt x="339796" y="3493"/>
                  <a:pt x="345369" y="9684"/>
                </a:cubicBezTo>
                <a:lnTo>
                  <a:pt x="375214" y="43259"/>
                </a:lnTo>
                <a:cubicBezTo>
                  <a:pt x="380718" y="49530"/>
                  <a:pt x="383822" y="57944"/>
                  <a:pt x="383822" y="66675"/>
                </a:cubicBezTo>
                <a:cubicBezTo>
                  <a:pt x="383822" y="75406"/>
                  <a:pt x="380718" y="83820"/>
                  <a:pt x="375214" y="90091"/>
                </a:cubicBezTo>
                <a:lnTo>
                  <a:pt x="312984" y="160099"/>
                </a:lnTo>
                <a:lnTo>
                  <a:pt x="241512" y="79693"/>
                </a:lnTo>
                <a:lnTo>
                  <a:pt x="303742" y="9684"/>
                </a:lnTo>
                <a:cubicBezTo>
                  <a:pt x="309316" y="3493"/>
                  <a:pt x="316794" y="0"/>
                  <a:pt x="324556" y="0"/>
                </a:cubicBezTo>
                <a:close/>
                <a:moveTo>
                  <a:pt x="31186" y="316309"/>
                </a:moveTo>
                <a:lnTo>
                  <a:pt x="217593" y="106601"/>
                </a:lnTo>
                <a:lnTo>
                  <a:pt x="289066" y="187008"/>
                </a:lnTo>
                <a:lnTo>
                  <a:pt x="102658" y="396716"/>
                </a:lnTo>
                <a:cubicBezTo>
                  <a:pt x="97084" y="402908"/>
                  <a:pt x="89606" y="406400"/>
                  <a:pt x="81844" y="406400"/>
                </a:cubicBezTo>
                <a:cubicBezTo>
                  <a:pt x="74083" y="406400"/>
                  <a:pt x="66604" y="402908"/>
                  <a:pt x="61031" y="396716"/>
                </a:cubicBezTo>
                <a:lnTo>
                  <a:pt x="31186" y="363141"/>
                </a:lnTo>
                <a:cubicBezTo>
                  <a:pt x="25682" y="356870"/>
                  <a:pt x="22578" y="348456"/>
                  <a:pt x="22578" y="339725"/>
                </a:cubicBezTo>
                <a:cubicBezTo>
                  <a:pt x="22578" y="330994"/>
                  <a:pt x="25682" y="322580"/>
                  <a:pt x="31186" y="316309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22" name="Text 19"/>
          <p:cNvSpPr/>
          <p:nvPr/>
        </p:nvSpPr>
        <p:spPr>
          <a:xfrm>
            <a:off x="11582400" y="25400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采样过程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049000" y="31115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Euler / Heun ODE solver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支持 classifier-free guidance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从噪声逐步去噪生成图像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50步高质量采样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62000" y="5524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6000" y="56261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核心公式</a:t>
            </a:r>
            <a:endParaRPr lang="en-US" sz="13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23"/>
              <p:cNvSpPr/>
              <p:nvPr/>
            </p:nvSpPr>
            <p:spPr>
              <a:xfrm>
                <a:off x="1016000" y="5969000"/>
                <a:ext cx="14224000" cy="444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sz="2000" i="1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⋅</m:t>
                    </m:r>
                    <m:r>
                      <a:rPr lang="en-US" sz="2000" i="1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+(</m:t>
                    </m:r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r>
                      <a:rPr lang="en-US" sz="2000" i="1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sz="2000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)⋅</m:t>
                    </m:r>
                    <m:r>
                      <a:rPr lang="en-US" sz="2000" i="1" dirty="0">
                        <a:solidFill>
                          <a:srgbClr val="1A1D23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𝑒</m:t>
                    </m:r>
                  </m:oMath>
                </a14:m>
                <a:r>
                  <a:rPr lang="en-US" sz="2000" dirty="0">
                    <a:solidFill>
                      <a:srgbClr val="1A1D23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——  Flow Matching 前向加噪过程，模型学习从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1A1D23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预测干净图像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sz="14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6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969000"/>
                <a:ext cx="14224000" cy="444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24"/>
          <p:cNvSpPr/>
          <p:nvPr/>
        </p:nvSpPr>
        <p:spPr>
          <a:xfrm>
            <a:off x="762000" y="6985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关键特点：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 追求极简设计——去除 U-Net 的复杂下采样/上采样结构，直接用 Transformer 处理图像 patch 序列，在 flow matching 框架下实现高效的类条件图像生成。复现配置为 </a:t>
            </a:r>
            <a:r>
              <a:rPr lang="en-US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JiT-B/16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，输入分辨率 </a:t>
            </a:r>
            <a:r>
              <a:rPr lang="en-US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256×256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0" y="0"/>
            <a:ext cx="16256000" cy="1193800"/>
            <a:chOff x="0" y="0"/>
            <a:chExt cx="25600" cy="188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25600" cy="72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项目背景</a:t>
              </a:r>
              <a:endPara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512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Baseline复现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024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SNP改进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536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TCTM加速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20480" y="0"/>
              <a:ext cx="3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结论与展望</a:t>
              </a:r>
              <a:endPara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1200" y="1040"/>
              <a:ext cx="140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JiT模型核心架构</a:t>
              </a:r>
              <a:endPara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1200" y="1840"/>
              <a:ext cx="3200" cy="40"/>
            </a:xfrm>
            <a:prstGeom prst="rect">
              <a:avLst/>
            </a:prstGeom>
            <a:solidFill>
              <a:srgbClr val="115740"/>
            </a:solidFill>
          </p:spPr>
        </p:sp>
        <p:pic>
          <p:nvPicPr>
            <p:cNvPr id="30" name="Image 0" descr="https://kimi-img.moonshot.cn/pub/slides/okc/pf5z2q2q76cqy/mnt/agents/images/1__Logo_PNG_SVG_AI_.png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tretch>
              <a:fillRect/>
            </a:stretch>
          </p:blipFill>
          <p:spPr>
            <a:xfrm>
              <a:off x="24560" y="1100"/>
              <a:ext cx="720" cy="72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grpSp>
        <p:nvGrpSpPr>
          <p:cNvPr id="23" name="组合 22"/>
          <p:cNvGrpSpPr/>
          <p:nvPr/>
        </p:nvGrpSpPr>
        <p:grpSpPr>
          <a:xfrm>
            <a:off x="0" y="0"/>
            <a:ext cx="15417800" cy="457200"/>
            <a:chOff x="0" y="0"/>
            <a:chExt cx="24280" cy="720"/>
          </a:xfrm>
        </p:grpSpPr>
        <p:sp>
          <p:nvSpPr>
            <p:cNvPr id="3" name="Text 1"/>
            <p:cNvSpPr/>
            <p:nvPr/>
          </p:nvSpPr>
          <p:spPr>
            <a:xfrm>
              <a:off x="0" y="0"/>
              <a:ext cx="512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项目背景</a:t>
              </a:r>
              <a:endPara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120" y="0"/>
              <a:ext cx="19160" cy="720"/>
              <a:chOff x="5120" y="0"/>
              <a:chExt cx="19160" cy="720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5120" y="0"/>
                <a:ext cx="5120" cy="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02 Baseline复现</a:t>
                </a:r>
                <a:endPara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10240" y="0"/>
                <a:ext cx="5120" cy="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03 SNP改进</a:t>
                </a:r>
                <a:endPara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15360" y="0"/>
                <a:ext cx="5120" cy="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04 TCTM加速</a:t>
                </a:r>
                <a:endPara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20480" y="0"/>
                <a:ext cx="3800" cy="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05 结论与展望</a:t>
                </a:r>
                <a:endParaRPr 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复现目标与实验配置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62000" y="1460500"/>
          <a:ext cx="7112000" cy="4826000"/>
        </p:xfrm>
        <a:graphic>
          <a:graphicData uri="http://schemas.openxmlformats.org/drawingml/2006/table">
            <a:tbl>
              <a:tblPr/>
              <a:tblGrid>
                <a:gridCol w="2489200"/>
                <a:gridCol w="4622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配置项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设置值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模型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JiT-B/16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分辨率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× 256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数据集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ImageNet-1K 子集（~2000张）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训练轮数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20 epochs fine-tuning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Batch Size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32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学习率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blr=5e</a:t>
                      </a:r>
                      <a:r>
                        <a:rPr lang="en-US" sz="1800" b="1" baseline="30000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-5</a:t>
                      </a:r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, lr=6.25e</a:t>
                      </a:r>
                      <a:r>
                        <a:rPr lang="en-US" sz="1800" b="1" baseline="30000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-6</a:t>
                      </a:r>
                      <a:endParaRPr lang="en-US" sz="1800" b="1" baseline="30000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优化器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AdamW (β=(0.9, 0.95))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采样器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Heun, 50 steps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随机种子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42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评估指标体系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82000" y="19050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4" name="Text 10"/>
          <p:cNvSpPr/>
          <p:nvPr/>
        </p:nvSpPr>
        <p:spPr>
          <a:xfrm>
            <a:off x="8382000" y="2159000"/>
            <a:ext cx="7112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训练指标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Flow Matching Loss — 训练收敛性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x₀ Prediction MSE — 干净图像预测精度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生成指标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像素多样性 σ — 生成样本统计分布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图像对比度 — 视觉质量评估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382000" y="4953000"/>
            <a:ext cx="711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3600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02554"/>
          </a:solidFill>
        </p:spPr>
      </p:sp>
      <p:sp>
        <p:nvSpPr>
          <p:cNvPr id="17" name="Text 13"/>
          <p:cNvSpPr/>
          <p:nvPr/>
        </p:nvSpPr>
        <p:spPr>
          <a:xfrm>
            <a:off x="9042400" y="51054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实验说明</a:t>
            </a:r>
            <a:endParaRPr lang="en-US" sz="15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636000" y="5524500"/>
            <a:ext cx="6604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由于完整 ImageNet-1K 训练成本较高，本轮使用轻量子集进行快速验证。指标为轻量 proxy 指标，未使用完整 50k FID 作为最终结论。</a:t>
            </a:r>
            <a:endParaRPr lang="en-US" sz="15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复现策略：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使用官方 pretrained JiT-B/16 checkpoint 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初始化，在 ImageNet 子集上 fine-tuning 20 epochs，重点验证复现链路、收敛行为和方法趋势。所有实验固定随机种子 42，确保结果可复现。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8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Baseline复现</a:t>
            </a:r>
            <a:endParaRPr lang="en-US"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工程搭建、训练配置与收敛验证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1524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代码工程架构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复现工程采用模块化设计，各组件职责清晰，便于后续改进算法的快速迭代与验证。</a:t>
            </a:r>
            <a:endParaRPr lang="en-US" sz="16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" y="2032000"/>
          <a:ext cx="14732000" cy="4445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76606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模块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文件路径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功能描述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模型结构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src/jit_repro/model.py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JiT-B/L/H 系列、patch embedding、RoPE、in-context tokens、Transformer blocks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扩散/Flow工具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src/jit_repro/diffusion.py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Logit-normal 时间采样、EMA 参数维护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训练与采样封装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src/jit_repro/denoiser.py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x₀ 预测、flow loss、SNP/SCMR 预留逻辑、统一采样接口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ODE采样器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src/jit_repro/sampling.py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Euler、Heun solver、classifier-free guidance 实现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训练脚本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scripts/train.py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单卡 fine-tuning、日志、checkpoint、可选在线 FID 评估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62000" y="6794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实验脚本流水线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62000" y="7366000"/>
            <a:ext cx="14732635" cy="977900"/>
            <a:chOff x="1200" y="11600"/>
            <a:chExt cx="18400" cy="1540"/>
          </a:xfrm>
        </p:grpSpPr>
        <p:sp>
          <p:nvSpPr>
            <p:cNvPr id="14" name="Shape 10"/>
            <p:cNvSpPr/>
            <p:nvPr/>
          </p:nvSpPr>
          <p:spPr>
            <a:xfrm>
              <a:off x="1200" y="11600"/>
              <a:ext cx="5600" cy="100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15" name="Text 11"/>
            <p:cNvSpPr/>
            <p:nvPr/>
          </p:nvSpPr>
          <p:spPr>
            <a:xfrm>
              <a:off x="1200" y="11600"/>
              <a:ext cx="5600" cy="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01_train_baseline.sh</a:t>
              </a:r>
              <a:endPara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6" name="Shape 12"/>
            <p:cNvSpPr/>
            <p:nvPr/>
          </p:nvSpPr>
          <p:spPr>
            <a:xfrm>
              <a:off x="6800" y="12000"/>
              <a:ext cx="800" cy="0"/>
            </a:xfrm>
            <a:prstGeom prst="straightConnector1">
              <a:avLst/>
            </a:prstGeom>
            <a:noFill/>
            <a:ln w="25400">
              <a:solidFill>
                <a:srgbClr val="115740"/>
              </a:solidFill>
              <a:prstDash val="solid"/>
              <a:headEnd type="none"/>
              <a:tailEnd type="arrow"/>
            </a:ln>
          </p:spPr>
        </p:sp>
        <p:sp>
          <p:nvSpPr>
            <p:cNvPr id="17" name="Shape 13"/>
            <p:cNvSpPr/>
            <p:nvPr/>
          </p:nvSpPr>
          <p:spPr>
            <a:xfrm>
              <a:off x="7600" y="11600"/>
              <a:ext cx="5600" cy="100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18" name="Text 14"/>
            <p:cNvSpPr/>
            <p:nvPr/>
          </p:nvSpPr>
          <p:spPr>
            <a:xfrm>
              <a:off x="7600" y="11600"/>
              <a:ext cx="5600" cy="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02_train_snp.sh</a:t>
              </a:r>
              <a:endPara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9" name="Shape 15"/>
            <p:cNvSpPr/>
            <p:nvPr/>
          </p:nvSpPr>
          <p:spPr>
            <a:xfrm>
              <a:off x="13200" y="12000"/>
              <a:ext cx="800" cy="0"/>
            </a:xfrm>
            <a:prstGeom prst="straightConnector1">
              <a:avLst/>
            </a:prstGeom>
            <a:noFill/>
            <a:ln w="25400">
              <a:solidFill>
                <a:srgbClr val="115740"/>
              </a:solidFill>
              <a:prstDash val="solid"/>
              <a:headEnd type="none"/>
              <a:tailEnd type="arrow"/>
            </a:ln>
          </p:spPr>
        </p:sp>
        <p:sp>
          <p:nvSpPr>
            <p:cNvPr id="20" name="Shape 16"/>
            <p:cNvSpPr/>
            <p:nvPr/>
          </p:nvSpPr>
          <p:spPr>
            <a:xfrm>
              <a:off x="14000" y="11600"/>
              <a:ext cx="5600" cy="100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21" name="Text 17"/>
            <p:cNvSpPr/>
            <p:nvPr/>
          </p:nvSpPr>
          <p:spPr>
            <a:xfrm>
              <a:off x="14000" y="11600"/>
              <a:ext cx="5600" cy="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03_train_tctm.sh</a:t>
              </a:r>
              <a:endPara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200" y="12700"/>
              <a:ext cx="5600" cy="44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Baseline Fine-tuning</a:t>
              </a:r>
              <a:endPara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3" name="Text 19"/>
            <p:cNvSpPr/>
            <p:nvPr/>
          </p:nvSpPr>
          <p:spPr>
            <a:xfrm>
              <a:off x="7600" y="12700"/>
              <a:ext cx="5600" cy="44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SNP Fine-tuning</a:t>
              </a:r>
              <a:endPara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4" name="Text 20"/>
            <p:cNvSpPr/>
            <p:nvPr/>
          </p:nvSpPr>
          <p:spPr>
            <a:xfrm>
              <a:off x="14000" y="12700"/>
              <a:ext cx="5600" cy="44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TCTM Sampling Eval</a:t>
              </a:r>
              <a:endPara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pic>
        <p:nvPicPr>
          <p:cNvPr id="26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Baseline训练收敛分析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 fine-tuning 在 20 epochs 内稳定收敛，训练曲线总体平稳，未出现发散。</a:t>
            </a:r>
            <a:endParaRPr lang="en-US" sz="18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" y="1981200"/>
          <a:ext cx="6350000" cy="3683000"/>
        </p:xfrm>
        <a:graphic>
          <a:graphicData uri="http://schemas.openxmlformats.org/drawingml/2006/table">
            <a:tbl>
              <a:tblPr/>
              <a:tblGrid>
                <a:gridCol w="3492500"/>
                <a:gridCol w="2857500"/>
              </a:tblGrid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指标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Baseline FT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Final Flow Loss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0.0518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Final x₀ MSE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0.0247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采样时间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2.03 s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像素多样性 σ (TCTM)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56.4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采样均值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103.9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像素多样性 σ (SNP)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58.3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图像对比度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251.2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Image 1" descr="https://kimi-img.moonshot.cn/pub/slides/okc/rewbwzovlcgys/mnt/agents/upload/02_training_curve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93000" y="1968500"/>
            <a:ext cx="8001000" cy="3683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493000" y="1968500"/>
            <a:ext cx="8001000" cy="3683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493000" y="5715000"/>
            <a:ext cx="800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图1：Baseline 与 </a:t>
            </a:r>
            <a:r>
              <a:rPr lang="en-US" sz="16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 训练收敛曲线对比（Flow Loss &amp; x₀ MSE）</a:t>
            </a:r>
            <a:endParaRPr lang="en-US" sz="16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62000" y="6223000"/>
            <a:ext cx="14732000" cy="2000250"/>
            <a:chOff x="1200" y="9800"/>
            <a:chExt cx="23200" cy="2600"/>
          </a:xfrm>
        </p:grpSpPr>
        <p:sp>
          <p:nvSpPr>
            <p:cNvPr id="16" name="Shape 11"/>
            <p:cNvSpPr/>
            <p:nvPr/>
          </p:nvSpPr>
          <p:spPr>
            <a:xfrm>
              <a:off x="1200" y="9800"/>
              <a:ext cx="23200" cy="2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600" y="10100"/>
              <a:ext cx="480" cy="48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2489" y="228600"/>
                  </a:moveTo>
                  <a:cubicBezTo>
                    <a:pt x="238284" y="215325"/>
                    <a:pt x="249872" y="203299"/>
                    <a:pt x="262969" y="192941"/>
                  </a:cubicBezTo>
                  <a:cubicBezTo>
                    <a:pt x="288925" y="172462"/>
                    <a:pt x="304800" y="144780"/>
                    <a:pt x="304800" y="114300"/>
                  </a:cubicBezTo>
                  <a:cubicBezTo>
                    <a:pt x="304800" y="51197"/>
                    <a:pt x="236537" y="0"/>
                    <a:pt x="152400" y="0"/>
                  </a:cubicBezTo>
                  <a:cubicBezTo>
                    <a:pt x="68262" y="0"/>
                    <a:pt x="0" y="51197"/>
                    <a:pt x="0" y="114300"/>
                  </a:cubicBezTo>
                  <a:cubicBezTo>
                    <a:pt x="0" y="144780"/>
                    <a:pt x="15875" y="172462"/>
                    <a:pt x="41831" y="192941"/>
                  </a:cubicBezTo>
                  <a:cubicBezTo>
                    <a:pt x="54928" y="203299"/>
                    <a:pt x="66596" y="215325"/>
                    <a:pt x="72311" y="228600"/>
                  </a:cubicBezTo>
                  <a:lnTo>
                    <a:pt x="232410" y="228600"/>
                  </a:lnTo>
                  <a:close/>
                  <a:moveTo>
                    <a:pt x="228600" y="257175"/>
                  </a:moveTo>
                  <a:lnTo>
                    <a:pt x="76200" y="257175"/>
                  </a:lnTo>
                  <a:lnTo>
                    <a:pt x="76200" y="266700"/>
                  </a:lnTo>
                  <a:cubicBezTo>
                    <a:pt x="76200" y="293013"/>
                    <a:pt x="104616" y="314325"/>
                    <a:pt x="139700" y="314325"/>
                  </a:cubicBezTo>
                  <a:lnTo>
                    <a:pt x="165100" y="314325"/>
                  </a:lnTo>
                  <a:cubicBezTo>
                    <a:pt x="200184" y="314325"/>
                    <a:pt x="228600" y="293013"/>
                    <a:pt x="228600" y="266700"/>
                  </a:cubicBezTo>
                  <a:lnTo>
                    <a:pt x="228600" y="257175"/>
                  </a:lnTo>
                  <a:close/>
                  <a:moveTo>
                    <a:pt x="146050" y="66675"/>
                  </a:moveTo>
                  <a:cubicBezTo>
                    <a:pt x="114459" y="66675"/>
                    <a:pt x="88900" y="85844"/>
                    <a:pt x="88900" y="109537"/>
                  </a:cubicBezTo>
                  <a:cubicBezTo>
                    <a:pt x="88900" y="117455"/>
                    <a:pt x="80407" y="123825"/>
                    <a:pt x="69850" y="123825"/>
                  </a:cubicBezTo>
                  <a:cubicBezTo>
                    <a:pt x="59293" y="123825"/>
                    <a:pt x="50800" y="117455"/>
                    <a:pt x="50800" y="109537"/>
                  </a:cubicBezTo>
                  <a:cubicBezTo>
                    <a:pt x="50800" y="70068"/>
                    <a:pt x="93424" y="38100"/>
                    <a:pt x="146050" y="38100"/>
                  </a:cubicBezTo>
                  <a:cubicBezTo>
                    <a:pt x="156607" y="38100"/>
                    <a:pt x="165100" y="44470"/>
                    <a:pt x="165100" y="52388"/>
                  </a:cubicBezTo>
                  <a:cubicBezTo>
                    <a:pt x="165100" y="60305"/>
                    <a:pt x="156607" y="66675"/>
                    <a:pt x="146050" y="66675"/>
                  </a:cubicBezTo>
                  <a:close/>
                </a:path>
              </a:pathLst>
            </a:custGeom>
            <a:solidFill>
              <a:srgbClr val="002554"/>
            </a:solidFill>
          </p:spPr>
        </p:sp>
        <p:sp>
          <p:nvSpPr>
            <p:cNvPr id="18" name="Text 13"/>
            <p:cNvSpPr/>
            <p:nvPr/>
          </p:nvSpPr>
          <p:spPr>
            <a:xfrm>
              <a:off x="2240" y="10040"/>
              <a:ext cx="40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600" b="1" dirty="0">
                  <a:solidFill>
                    <a:srgbClr val="002554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关键发现</a:t>
              </a:r>
              <a:endParaRPr lang="en-US" sz="16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1600" y="10700"/>
              <a:ext cx="22400" cy="1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Baseline loss 在训练中存在小幅波动但总体稳定，复现链路有效。由于数据子集较小，proxy 指标仅用于验证方法趋势，不能直接替代完整 ImageNet FID。</a:t>
              </a:r>
              <a:endPara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1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03</a:t>
            </a:r>
            <a:endParaRPr lang="en-US" sz="8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改进算法一：SNP结构化噪声过程</a:t>
            </a:r>
            <a:endParaRPr lang="en-US"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训练端正则化，提升生成多样性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1524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SNP方法动机与核心思想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Shape 8"/>
          <p:cNvSpPr/>
          <p:nvPr/>
        </p:nvSpPr>
        <p:spPr>
          <a:xfrm>
            <a:off x="762000" y="1460500"/>
            <a:ext cx="7112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00" y="1587500"/>
            <a:ext cx="2794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Flow Matching 的问题</a:t>
            </a:r>
            <a:endParaRPr lang="en-US" sz="2000" b="1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6000" y="2006600"/>
            <a:ext cx="660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flow matching 使用</a:t>
            </a:r>
            <a:r>
              <a:rPr lang="en-US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全图均匀强度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的高斯噪声。模型在训练时只学习从"完全混乱"中恢复图像，缺乏对</a:t>
            </a:r>
            <a:r>
              <a:rPr lang="en-US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局部结构保留</a:t>
            </a: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的处理能力。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82000" y="1460500"/>
            <a:ext cx="7112000" cy="2159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5" name="Text 12"/>
          <p:cNvSpPr/>
          <p:nvPr/>
        </p:nvSpPr>
        <p:spPr>
          <a:xfrm>
            <a:off x="8636000" y="15875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 的核心思路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636000" y="2006600"/>
            <a:ext cx="660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让模型在训练时看到更复杂的</a:t>
            </a: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局部退化模式</a:t>
            </a:r>
            <a:r>
              <a:rPr 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：同一张图中部分区域保留更多结构，其他区域仍使用完整噪声。迫使模型在不均匀噪声条件下恢复图像。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2000" y="3937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预期收益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62000" y="43815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9" name="Shape 16"/>
          <p:cNvSpPr/>
          <p:nvPr/>
        </p:nvSpPr>
        <p:spPr>
          <a:xfrm>
            <a:off x="762000" y="4699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6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21" name="Text 18"/>
          <p:cNvSpPr/>
          <p:nvPr/>
        </p:nvSpPr>
        <p:spPr>
          <a:xfrm>
            <a:off x="1498600" y="4889500"/>
            <a:ext cx="3683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结构鲁棒性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16000" y="5334000"/>
            <a:ext cx="419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模型学会处理不均匀噪声，对局部退化更具鲁棒性</a:t>
            </a:r>
            <a:endParaRPr lang="en-US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778500" y="4699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25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178425"/>
                  <a:pt x="355600" y="179050"/>
                  <a:pt x="355600" y="179675"/>
                </a:cubicBezTo>
                <a:cubicBezTo>
                  <a:pt x="355322" y="205026"/>
                  <a:pt x="332264" y="222250"/>
                  <a:pt x="306913" y="222250"/>
                </a:cubicBezTo>
                <a:lnTo>
                  <a:pt x="238919" y="222250"/>
                </a:lnTo>
                <a:cubicBezTo>
                  <a:pt x="220514" y="222250"/>
                  <a:pt x="205581" y="237182"/>
                  <a:pt x="205581" y="255587"/>
                </a:cubicBezTo>
                <a:cubicBezTo>
                  <a:pt x="205581" y="257949"/>
                  <a:pt x="205859" y="260241"/>
                  <a:pt x="206276" y="262463"/>
                </a:cubicBezTo>
                <a:cubicBezTo>
                  <a:pt x="207734" y="269548"/>
                  <a:pt x="210790" y="276354"/>
                  <a:pt x="213777" y="283230"/>
                </a:cubicBezTo>
                <a:cubicBezTo>
                  <a:pt x="218013" y="292814"/>
                  <a:pt x="222181" y="302329"/>
                  <a:pt x="222181" y="312400"/>
                </a:cubicBezTo>
                <a:cubicBezTo>
                  <a:pt x="222181" y="334486"/>
                  <a:pt x="207179" y="354558"/>
                  <a:pt x="185093" y="355461"/>
                </a:cubicBezTo>
                <a:cubicBezTo>
                  <a:pt x="182662" y="355531"/>
                  <a:pt x="180231" y="355600"/>
                  <a:pt x="177731" y="355600"/>
                </a:cubicBezTo>
                <a:cubicBezTo>
                  <a:pt x="79524" y="355600"/>
                  <a:pt x="-69" y="276007"/>
                  <a:pt x="-69" y="177800"/>
                </a:cubicBezTo>
                <a:cubicBezTo>
                  <a:pt x="-69" y="79593"/>
                  <a:pt x="79593" y="0"/>
                  <a:pt x="177800" y="0"/>
                </a:cubicBezTo>
                <a:cubicBezTo>
                  <a:pt x="276007" y="0"/>
                  <a:pt x="355600" y="79593"/>
                  <a:pt x="355600" y="177800"/>
                </a:cubicBezTo>
                <a:close/>
                <a:moveTo>
                  <a:pt x="88900" y="200025"/>
                </a:moveTo>
                <a:cubicBezTo>
                  <a:pt x="88900" y="187759"/>
                  <a:pt x="78941" y="177800"/>
                  <a:pt x="66675" y="177800"/>
                </a:cubicBezTo>
                <a:cubicBezTo>
                  <a:pt x="54409" y="177800"/>
                  <a:pt x="44450" y="187759"/>
                  <a:pt x="44450" y="200025"/>
                </a:cubicBezTo>
                <a:cubicBezTo>
                  <a:pt x="44450" y="212291"/>
                  <a:pt x="54409" y="222250"/>
                  <a:pt x="66675" y="222250"/>
                </a:cubicBezTo>
                <a:cubicBezTo>
                  <a:pt x="78941" y="222250"/>
                  <a:pt x="88900" y="212291"/>
                  <a:pt x="88900" y="200025"/>
                </a:cubicBezTo>
                <a:close/>
                <a:moveTo>
                  <a:pt x="88900" y="133350"/>
                </a:moveTo>
                <a:cubicBezTo>
                  <a:pt x="101166" y="133350"/>
                  <a:pt x="111125" y="123391"/>
                  <a:pt x="111125" y="111125"/>
                </a:cubicBezTo>
                <a:cubicBezTo>
                  <a:pt x="111125" y="98859"/>
                  <a:pt x="101166" y="88900"/>
                  <a:pt x="88900" y="88900"/>
                </a:cubicBezTo>
                <a:cubicBezTo>
                  <a:pt x="76634" y="88900"/>
                  <a:pt x="66675" y="98859"/>
                  <a:pt x="66675" y="111125"/>
                </a:cubicBezTo>
                <a:cubicBezTo>
                  <a:pt x="66675" y="123391"/>
                  <a:pt x="76634" y="133350"/>
                  <a:pt x="88900" y="13335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266700" y="133350"/>
                </a:moveTo>
                <a:cubicBezTo>
                  <a:pt x="278966" y="133350"/>
                  <a:pt x="288925" y="123391"/>
                  <a:pt x="288925" y="111125"/>
                </a:cubicBezTo>
                <a:cubicBezTo>
                  <a:pt x="288925" y="98859"/>
                  <a:pt x="278966" y="88900"/>
                  <a:pt x="266700" y="88900"/>
                </a:cubicBezTo>
                <a:cubicBezTo>
                  <a:pt x="254434" y="88900"/>
                  <a:pt x="244475" y="98859"/>
                  <a:pt x="244475" y="111125"/>
                </a:cubicBezTo>
                <a:cubicBezTo>
                  <a:pt x="244475" y="123391"/>
                  <a:pt x="254434" y="133350"/>
                  <a:pt x="266700" y="133350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25" name="Text 22"/>
          <p:cNvSpPr/>
          <p:nvPr/>
        </p:nvSpPr>
        <p:spPr>
          <a:xfrm>
            <a:off x="6515100" y="4889500"/>
            <a:ext cx="3683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生成多样性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032500" y="5334000"/>
            <a:ext cx="419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更丰富的噪声模式带来更具多样性的生成样本</a:t>
            </a:r>
            <a:endParaRPr lang="en-US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795000" y="4699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049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351" y="67439"/>
                </a:moveTo>
                <a:lnTo>
                  <a:pt x="138351" y="101888"/>
                </a:lnTo>
                <a:lnTo>
                  <a:pt x="138659" y="102235"/>
                </a:lnTo>
                <a:cubicBezTo>
                  <a:pt x="142672" y="45006"/>
                  <a:pt x="185208" y="0"/>
                  <a:pt x="237128" y="0"/>
                </a:cubicBezTo>
                <a:cubicBezTo>
                  <a:pt x="249537" y="0"/>
                  <a:pt x="261452" y="2570"/>
                  <a:pt x="272380" y="7293"/>
                </a:cubicBezTo>
                <a:cubicBezTo>
                  <a:pt x="278553" y="9932"/>
                  <a:pt x="279665" y="18752"/>
                  <a:pt x="275034" y="24031"/>
                </a:cubicBezTo>
                <a:lnTo>
                  <a:pt x="220274" y="85636"/>
                </a:lnTo>
                <a:cubicBezTo>
                  <a:pt x="218422" y="87719"/>
                  <a:pt x="217373" y="90567"/>
                  <a:pt x="217373" y="93484"/>
                </a:cubicBezTo>
                <a:lnTo>
                  <a:pt x="217373" y="122238"/>
                </a:lnTo>
                <a:cubicBezTo>
                  <a:pt x="217373" y="128349"/>
                  <a:pt x="221818" y="133350"/>
                  <a:pt x="227251" y="133350"/>
                </a:cubicBezTo>
                <a:lnTo>
                  <a:pt x="252809" y="133350"/>
                </a:lnTo>
                <a:cubicBezTo>
                  <a:pt x="255402" y="133350"/>
                  <a:pt x="257933" y="132169"/>
                  <a:pt x="259786" y="130086"/>
                </a:cubicBezTo>
                <a:lnTo>
                  <a:pt x="314545" y="68481"/>
                </a:lnTo>
                <a:cubicBezTo>
                  <a:pt x="319237" y="63202"/>
                  <a:pt x="327078" y="64522"/>
                  <a:pt x="329424" y="71467"/>
                </a:cubicBezTo>
                <a:cubicBezTo>
                  <a:pt x="333622" y="83760"/>
                  <a:pt x="335906" y="97165"/>
                  <a:pt x="335906" y="111125"/>
                </a:cubicBezTo>
                <a:cubicBezTo>
                  <a:pt x="335906" y="153214"/>
                  <a:pt x="315101" y="189885"/>
                  <a:pt x="284357" y="208707"/>
                </a:cubicBezTo>
                <a:lnTo>
                  <a:pt x="334671" y="265311"/>
                </a:lnTo>
                <a:cubicBezTo>
                  <a:pt x="346216" y="278299"/>
                  <a:pt x="346216" y="299412"/>
                  <a:pt x="334671" y="312470"/>
                </a:cubicBezTo>
                <a:lnTo>
                  <a:pt x="297568" y="354211"/>
                </a:lnTo>
                <a:cubicBezTo>
                  <a:pt x="286023" y="367199"/>
                  <a:pt x="267256" y="367199"/>
                  <a:pt x="255649" y="354211"/>
                </a:cubicBezTo>
                <a:lnTo>
                  <a:pt x="177862" y="266700"/>
                </a:lnTo>
                <a:cubicBezTo>
                  <a:pt x="160946" y="247670"/>
                  <a:pt x="157118" y="219541"/>
                  <a:pt x="166441" y="196344"/>
                </a:cubicBezTo>
                <a:lnTo>
                  <a:pt x="110446" y="133350"/>
                </a:lnTo>
                <a:lnTo>
                  <a:pt x="79825" y="133350"/>
                </a:lnTo>
                <a:cubicBezTo>
                  <a:pt x="73219" y="133350"/>
                  <a:pt x="67045" y="129669"/>
                  <a:pt x="63403" y="123488"/>
                </a:cubicBezTo>
                <a:lnTo>
                  <a:pt x="14446" y="40908"/>
                </a:lnTo>
                <a:cubicBezTo>
                  <a:pt x="11853" y="36532"/>
                  <a:pt x="12347" y="30629"/>
                  <a:pt x="15681" y="26878"/>
                </a:cubicBezTo>
                <a:lnTo>
                  <a:pt x="43709" y="-4653"/>
                </a:lnTo>
                <a:cubicBezTo>
                  <a:pt x="47043" y="-8404"/>
                  <a:pt x="52229" y="-8959"/>
                  <a:pt x="56180" y="-6042"/>
                </a:cubicBezTo>
                <a:lnTo>
                  <a:pt x="129584" y="48964"/>
                </a:lnTo>
                <a:cubicBezTo>
                  <a:pt x="135079" y="53062"/>
                  <a:pt x="138351" y="60008"/>
                  <a:pt x="138351" y="67439"/>
                </a:cubicBezTo>
                <a:close/>
                <a:moveTo>
                  <a:pt x="133103" y="205998"/>
                </a:moveTo>
                <a:cubicBezTo>
                  <a:pt x="129214" y="231696"/>
                  <a:pt x="134585" y="258852"/>
                  <a:pt x="149401" y="280591"/>
                </a:cubicBezTo>
                <a:lnTo>
                  <a:pt x="90752" y="346502"/>
                </a:lnTo>
                <a:cubicBezTo>
                  <a:pt x="73404" y="366018"/>
                  <a:pt x="45253" y="366018"/>
                  <a:pt x="27905" y="346502"/>
                </a:cubicBezTo>
                <a:cubicBezTo>
                  <a:pt x="10557" y="326985"/>
                  <a:pt x="10557" y="295315"/>
                  <a:pt x="27905" y="275798"/>
                </a:cubicBezTo>
                <a:lnTo>
                  <a:pt x="111495" y="181759"/>
                </a:lnTo>
                <a:lnTo>
                  <a:pt x="133103" y="206067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29" name="Text 26"/>
          <p:cNvSpPr/>
          <p:nvPr/>
        </p:nvSpPr>
        <p:spPr>
          <a:xfrm>
            <a:off x="11531600" y="4889500"/>
            <a:ext cx="3683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轻量改动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049000" y="5334000"/>
            <a:ext cx="419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只改变噪声注入方式，不依赖外部模型，训练端改动小</a:t>
            </a:r>
            <a:endParaRPr lang="en-US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62000" y="6731000"/>
            <a:ext cx="14732000" cy="1498600"/>
            <a:chOff x="1200" y="10600"/>
            <a:chExt cx="23200" cy="1400"/>
          </a:xfrm>
        </p:grpSpPr>
        <p:sp>
          <p:nvSpPr>
            <p:cNvPr id="31" name="Shape 28"/>
            <p:cNvSpPr/>
            <p:nvPr/>
          </p:nvSpPr>
          <p:spPr>
            <a:xfrm>
              <a:off x="1200" y="10600"/>
              <a:ext cx="23200" cy="1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grpSp>
          <p:nvGrpSpPr>
            <p:cNvPr id="36" name="组合 35"/>
            <p:cNvGrpSpPr/>
            <p:nvPr/>
          </p:nvGrpSpPr>
          <p:grpSpPr>
            <a:xfrm>
              <a:off x="1600" y="10700"/>
              <a:ext cx="22400" cy="1060"/>
              <a:chOff x="1600" y="10700"/>
              <a:chExt cx="22400" cy="1060"/>
            </a:xfrm>
          </p:grpSpPr>
          <p:sp>
            <p:nvSpPr>
              <p:cNvPr id="32" name="Text 29"/>
              <p:cNvSpPr/>
              <p:nvPr/>
            </p:nvSpPr>
            <p:spPr>
              <a:xfrm>
                <a:off x="1600" y="10700"/>
                <a:ext cx="4000" cy="4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dirty="0">
                    <a:solidFill>
                      <a:srgbClr val="5A637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SNP 噪声构造</a:t>
                </a:r>
                <a:endParaRPr lang="en-US" dirty="0">
                  <a:solidFill>
                    <a:srgbClr val="5A63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Text 30"/>
                  <p:cNvSpPr/>
                  <p:nvPr/>
                </p:nvSpPr>
                <p:spPr>
                  <a:xfrm>
                    <a:off x="1600" y="11160"/>
                    <a:ext cx="22400" cy="6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algn="ctr">
                      <a:lnSpc>
                        <a:spcPct val="120000"/>
                      </a:lnSpc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sz="28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⋅</m:t>
                        </m:r>
                        <m:r>
                          <a:rPr lang="en-US" sz="28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+(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sz="2800" i="1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)⋅</m:t>
                        </m:r>
                        <m:sSub>
                          <m:sSubPr>
                            <m:ctrlP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𝑠𝑡𝑟𝑢𝑐𝑡𝑢𝑟𝑒𝑑</m:t>
                            </m:r>
                          </m:sub>
                        </m:sSub>
                      </m:oMath>
                    </a14:m>
                    <a:r>
                      <a:rPr lang="en-US" sz="2800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  ——  矩形区域内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5</m:t>
                        </m:r>
                      </m:oMath>
                    </a14:m>
                    <a:r>
                      <a:rPr lang="en-US" sz="2800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，区域外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rgbClr val="1A1D23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sz="2800" dirty="0">
                            <a:solidFill>
                              <a:srgbClr val="1A1D2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oMath>
                    </a14:m>
                    <a:endParaRPr lang="en-US" sz="2800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mc:Choice>
            <mc:Fallback>
              <p:sp>
                <p:nvSpPr>
                  <p:cNvPr id="33" name="Text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0" y="11160"/>
                    <a:ext cx="22400" cy="6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35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SNP具体实现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397000"/>
            <a:ext cx="1473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 在训练阶段替换普通噪声 e 的生成方式，核心代码位于 </a:t>
            </a: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denoiser.py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 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_structured_noise() 方法。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19685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实现步骤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2000" y="2476500"/>
            <a:ext cx="2743200" cy="152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4" name="Text 11"/>
          <p:cNvSpPr/>
          <p:nvPr/>
        </p:nvSpPr>
        <p:spPr>
          <a:xfrm>
            <a:off x="889000" y="2540000"/>
            <a:ext cx="50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89000" y="29464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随机采样 </a:t>
            </a: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1~3 个矩形区域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505200" y="3175000"/>
            <a:ext cx="3048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3810000" y="2476500"/>
            <a:ext cx="2743200" cy="152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8" name="Text 15"/>
          <p:cNvSpPr/>
          <p:nvPr/>
        </p:nvSpPr>
        <p:spPr>
          <a:xfrm>
            <a:off x="3937000" y="2540000"/>
            <a:ext cx="50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937000" y="29464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矩形边长 </a:t>
            </a: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32~128 像素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53200" y="3175000"/>
            <a:ext cx="3048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6858000" y="2476500"/>
            <a:ext cx="2743200" cy="152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2" name="Text 19"/>
          <p:cNvSpPr/>
          <p:nvPr/>
        </p:nvSpPr>
        <p:spPr>
          <a:xfrm>
            <a:off x="6985000" y="2540000"/>
            <a:ext cx="50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85000" y="29464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区域内噪声 σ_in = 0.5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601200" y="3175000"/>
            <a:ext cx="3048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9906000" y="2476500"/>
            <a:ext cx="2743200" cy="152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6" name="Text 23"/>
          <p:cNvSpPr/>
          <p:nvPr/>
        </p:nvSpPr>
        <p:spPr>
          <a:xfrm>
            <a:off x="10033000" y="2540000"/>
            <a:ext cx="50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033000" y="29464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区域外噪声 σ_out = 1.0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2649200" y="3175000"/>
            <a:ext cx="3048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12954000" y="2476500"/>
            <a:ext cx="2540000" cy="152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0" name="Text 27"/>
          <p:cNvSpPr/>
          <p:nvPr/>
        </p:nvSpPr>
        <p:spPr>
          <a:xfrm>
            <a:off x="13081000" y="2540000"/>
            <a:ext cx="50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</a:t>
            </a:r>
            <a:endParaRPr 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3081000" y="2946400"/>
            <a:ext cx="22225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按原公式构造 z_t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62000" y="4318000"/>
            <a:ext cx="14732000" cy="298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6000" y="44450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核心逻辑示意（_structured_noise）</a:t>
            </a:r>
            <a:endParaRPr lang="en-US" sz="14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16000" y="4826000"/>
            <a:ext cx="14224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_structured_noise(x):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n_rects = random.randint(1, 3)        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随机1-3个矩形区域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_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range(n_rects):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rect = random_rect(size=(32, 128))  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边长32-128像素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noise[rect] *= 0.5                  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区域内 σ_in=0.5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* x + (1 - t) * noise      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构造结构化噪声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62000" y="7366000"/>
            <a:ext cx="14732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设计要点：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 </a:t>
            </a:r>
            <a:r>
              <a:rPr lang="en-US" sz="1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不改变模型结构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，只改变训练时的 forward noise process。这种"即插即用"的设计使得 SNP 可以与任何基于 flow matching 的生成模型无缝集成，无需修改网络架构。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SNP实验结果与对比分析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460500"/>
          <a:ext cx="7366000" cy="3992880"/>
        </p:xfrm>
        <a:graphic>
          <a:graphicData uri="http://schemas.openxmlformats.org/drawingml/2006/table">
            <a:tbl>
              <a:tblPr/>
              <a:tblGrid>
                <a:gridCol w="2578100"/>
                <a:gridCol w="1620520"/>
                <a:gridCol w="1620520"/>
                <a:gridCol w="1546860"/>
              </a:tblGrid>
              <a:tr h="81407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指标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Baseline FT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SNP FT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变化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7950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Final Flow Loss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0.0518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0.0481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157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↓ 更低</a:t>
                      </a:r>
                      <a:endParaRPr lang="en-US" sz="2000" b="1" dirty="0">
                        <a:solidFill>
                          <a:srgbClr val="1157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43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Final x₀ MSE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0.0247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0.0259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接近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7950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像素多样性 σ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58.3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63.9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157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+9.6%</a:t>
                      </a:r>
                      <a:endParaRPr lang="en-US" sz="2000" b="1" dirty="0">
                        <a:solidFill>
                          <a:srgbClr val="1157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43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图像对比度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251.2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253.4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+0.9%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https://kimi-img.moonshot.cn/pub/slides/okc/rewbwzovlcgys/mnt/agents/upload/04_snp_ba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9000" y="1460500"/>
            <a:ext cx="6985000" cy="369887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09000" y="1473200"/>
            <a:ext cx="6985000" cy="391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9000" y="5461000"/>
            <a:ext cx="698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图2：SNP 与 Baseline 像素多样性和图像对比度对比</a:t>
            </a:r>
            <a:endParaRPr lang="en-US" sz="14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62000" y="5740400"/>
            <a:ext cx="14732000" cy="2540000"/>
            <a:chOff x="1200" y="7800"/>
            <a:chExt cx="23200" cy="4000"/>
          </a:xfrm>
        </p:grpSpPr>
        <p:sp>
          <p:nvSpPr>
            <p:cNvPr id="15" name="Shape 10"/>
            <p:cNvSpPr/>
            <p:nvPr/>
          </p:nvSpPr>
          <p:spPr>
            <a:xfrm>
              <a:off x="1200" y="7800"/>
              <a:ext cx="23200" cy="4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0"/>
              </a:solidFill>
              <a:prstDash val="solid"/>
            </a:ln>
          </p:spPr>
        </p:sp>
        <p:sp>
          <p:nvSpPr>
            <p:cNvPr id="16" name="Text 11"/>
            <p:cNvSpPr/>
            <p:nvPr/>
          </p:nvSpPr>
          <p:spPr>
            <a:xfrm>
              <a:off x="1600" y="8000"/>
              <a:ext cx="6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800" b="1" dirty="0">
                  <a:solidFill>
                    <a:srgbClr val="115740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结果分析</a:t>
              </a:r>
              <a:endPara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7" name="Text 12"/>
            <p:cNvSpPr/>
            <p:nvPr/>
          </p:nvSpPr>
          <p:spPr>
            <a:xfrm>
              <a:off x="1600" y="8700"/>
              <a:ext cx="22400" cy="28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ct val="160000"/>
                </a:lnSpc>
              </a:pPr>
              <a:r>
                <a:rPr lang="en-US" sz="18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多样性显著提升：</a:t>
              </a:r>
              <a:r>
                <a:rPr lang="en-US" sz="1800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像素多样性 σ 从 58.3 提升到 63.9，增幅约 </a:t>
              </a:r>
              <a:r>
                <a:rPr lang="en-US" sz="18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9.6%</a:t>
              </a:r>
              <a:r>
                <a:rPr lang="en-US" sz="1800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，验证 SNP 能有效增加生成样本的统计多样性。</a:t>
              </a:r>
              <a:endPara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60000"/>
                </a:lnSpc>
              </a:pPr>
              <a:r>
                <a:rPr lang="en-US" sz="18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预测能力保持：</a:t>
              </a:r>
              <a:r>
                <a:rPr lang="en-US" sz="1800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x₀MSE 与 baseline 基本接近（0.0259 vs 0.0247），说明结构化噪声没有明显破坏干净图像预测能力。</a:t>
              </a:r>
              <a:endPara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60000"/>
                </a:lnSpc>
              </a:pPr>
              <a:r>
                <a:rPr lang="en-US" sz="18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训练 loss 降低：</a:t>
              </a:r>
              <a:r>
                <a:rPr lang="en-US" sz="1800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Final flow loss 从 0.0518 降至 0.0481，SNP 使训练目标更容易优化。</a:t>
              </a:r>
              <a:endPara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60000"/>
                </a:lnSpc>
              </a:pPr>
              <a:r>
                <a:rPr lang="en-US" sz="1800" b="1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适用场景：</a:t>
              </a:r>
              <a:r>
                <a:rPr lang="en-US" sz="1800" dirty="0">
                  <a:solidFill>
                    <a:srgbClr val="1A1D2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SNP 需额外 fine-tuning，更适合追求样本多样性、数据增强或创意生成的场景。</a:t>
              </a:r>
              <a:endPara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9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04</a:t>
            </a:r>
            <a:endParaRPr lang="en-US" sz="8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改进算法二：TCTM采样加速</a:t>
            </a:r>
            <a:endParaRPr lang="en-US"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采样端优化，提升推理速度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1524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TCTM方法动机与核心思想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关键观察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18796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3" name="Shape 10"/>
          <p:cNvSpPr/>
          <p:nvPr/>
        </p:nvSpPr>
        <p:spPr>
          <a:xfrm>
            <a:off x="762000" y="21590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6000" y="2286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早期时间步（高噪声）</a:t>
            </a:r>
            <a:endParaRPr lang="en-US" sz="16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6000" y="2692400"/>
            <a:ext cx="6604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图像细节尚未形成，score/velocity 变化相对</a:t>
            </a:r>
            <a:r>
              <a:rPr lang="en-US" sz="17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粗粒度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。此时使用大步长不会造成明显质量损失。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82000" y="21590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36000" y="2286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后期时间步（低噪声）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636000" y="2692400"/>
            <a:ext cx="6604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接近干净图像，需要</a:t>
            </a:r>
            <a:r>
              <a:rPr lang="en-US" sz="17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更细步长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恢复细节。此时不能跳过步骤，否则质量下降明显。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2000" y="4191000"/>
            <a:ext cx="14732000" cy="1270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0" name="Shape 17"/>
          <p:cNvSpPr/>
          <p:nvPr/>
        </p:nvSpPr>
        <p:spPr>
          <a:xfrm>
            <a:off x="10160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1549400" y="4381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 核心思想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49400" y="4800600"/>
            <a:ext cx="13589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在高噪声阶段（t &lt; threshold）使用更大的时间步，直接跳过部分中间步骤，以减少采样次数、加速推理。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2000" y="58420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方法优势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62000" y="62611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5" name="Shape 22"/>
          <p:cNvSpPr/>
          <p:nvPr/>
        </p:nvSpPr>
        <p:spPr>
          <a:xfrm>
            <a:off x="762000" y="65405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60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27" name="Text 24"/>
          <p:cNvSpPr/>
          <p:nvPr/>
        </p:nvSpPr>
        <p:spPr>
          <a:xfrm>
            <a:off x="1498600" y="6794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无需重新训练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16000" y="72390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只影响采样阶段，不改变模型参数</a:t>
            </a:r>
            <a:endParaRPr lang="en-US" sz="16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778500" y="65405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2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31" name="Text 28"/>
          <p:cNvSpPr/>
          <p:nvPr/>
        </p:nvSpPr>
        <p:spPr>
          <a:xfrm>
            <a:off x="6515100" y="6794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灵活可调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032500" y="72390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threshold 和 skip 参数控制速度-质量折中</a:t>
            </a:r>
            <a:endParaRPr lang="en-US" sz="16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795000" y="65405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0490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-22225"/>
                </a:moveTo>
                <a:cubicBezTo>
                  <a:pt x="115649" y="-22225"/>
                  <a:pt x="127000" y="-12293"/>
                  <a:pt x="127000" y="0"/>
                </a:cubicBezTo>
                <a:lnTo>
                  <a:pt x="127000" y="66675"/>
                </a:lnTo>
                <a:lnTo>
                  <a:pt x="228600" y="66675"/>
                </a:lnTo>
                <a:lnTo>
                  <a:pt x="228600" y="0"/>
                </a:lnTo>
                <a:cubicBezTo>
                  <a:pt x="228600" y="-12293"/>
                  <a:pt x="239951" y="-22225"/>
                  <a:pt x="254000" y="-22225"/>
                </a:cubicBezTo>
                <a:cubicBezTo>
                  <a:pt x="268049" y="-22225"/>
                  <a:pt x="279400" y="-12293"/>
                  <a:pt x="279400" y="0"/>
                </a:cubicBezTo>
                <a:lnTo>
                  <a:pt x="279400" y="66675"/>
                </a:lnTo>
                <a:lnTo>
                  <a:pt x="330200" y="66675"/>
                </a:lnTo>
                <a:cubicBezTo>
                  <a:pt x="344249" y="66675"/>
                  <a:pt x="355600" y="76607"/>
                  <a:pt x="355600" y="88900"/>
                </a:cubicBezTo>
                <a:cubicBezTo>
                  <a:pt x="355600" y="101193"/>
                  <a:pt x="344249" y="111125"/>
                  <a:pt x="330200" y="111125"/>
                </a:cubicBezTo>
                <a:lnTo>
                  <a:pt x="330200" y="155575"/>
                </a:lnTo>
                <a:cubicBezTo>
                  <a:pt x="330200" y="221625"/>
                  <a:pt x="275273" y="276493"/>
                  <a:pt x="203200" y="287050"/>
                </a:cubicBezTo>
                <a:lnTo>
                  <a:pt x="203200" y="333375"/>
                </a:lnTo>
                <a:cubicBezTo>
                  <a:pt x="203200" y="345668"/>
                  <a:pt x="191849" y="355600"/>
                  <a:pt x="177800" y="355600"/>
                </a:cubicBezTo>
                <a:cubicBezTo>
                  <a:pt x="163751" y="355600"/>
                  <a:pt x="152400" y="345668"/>
                  <a:pt x="152400" y="333375"/>
                </a:cubicBezTo>
                <a:lnTo>
                  <a:pt x="152400" y="287050"/>
                </a:lnTo>
                <a:cubicBezTo>
                  <a:pt x="80328" y="276493"/>
                  <a:pt x="25400" y="221625"/>
                  <a:pt x="25400" y="155575"/>
                </a:cubicBezTo>
                <a:lnTo>
                  <a:pt x="25400" y="111125"/>
                </a:lnTo>
                <a:cubicBezTo>
                  <a:pt x="11351" y="111125"/>
                  <a:pt x="0" y="101193"/>
                  <a:pt x="0" y="88900"/>
                </a:cubicBezTo>
                <a:cubicBezTo>
                  <a:pt x="0" y="76607"/>
                  <a:pt x="11351" y="66675"/>
                  <a:pt x="25400" y="66675"/>
                </a:cubicBezTo>
                <a:lnTo>
                  <a:pt x="76200" y="66675"/>
                </a:lnTo>
                <a:lnTo>
                  <a:pt x="76200" y="0"/>
                </a:lnTo>
                <a:cubicBezTo>
                  <a:pt x="76200" y="-12293"/>
                  <a:pt x="87551" y="-22225"/>
                  <a:pt x="101600" y="-22225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35" name="Text 32"/>
          <p:cNvSpPr/>
          <p:nvPr/>
        </p:nvSpPr>
        <p:spPr>
          <a:xfrm>
            <a:off x="11531600" y="6794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即插即用</a:t>
            </a:r>
            <a:endParaRPr lang="en-US" sz="16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1049000" y="72390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可与任意训练好的 checkpoint 配合使用</a:t>
            </a:r>
            <a:endParaRPr lang="en-US" sz="1600" dirty="0">
              <a:solidFill>
                <a:srgbClr val="1A1D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TCTM具体实现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当前实现为</a:t>
            </a:r>
            <a:r>
              <a:rPr lang="en-US" sz="18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时间条件的 ODE step skipping</a:t>
            </a:r>
            <a:r>
              <a:rPr lang="en-US" sz="18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，而非真正的 ToMe-style token merging。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1968500"/>
            <a:ext cx="14732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6000" y="20955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 Step Skipping 算法逻辑</a:t>
            </a:r>
            <a:endParaRPr lang="en-US" sz="14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16000" y="2476500"/>
            <a:ext cx="14224000" cy="317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each sampling step i: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TCTM_enabled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t_i &lt; threshold: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skip = int(1 / merge_ratio)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next_i = min(i + skip, last_step)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use Heun solver from t_i → t_next_i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大步长跳跃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sz="15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else</a:t>
            </a: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normal step t_i → t_{i+1}              </a:t>
            </a:r>
            <a:r>
              <a:rPr lang="en-US" sz="15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正常步长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最后一步始终使用 Euler step 到 t = 1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2000" y="5778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可调参数说明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62000" y="61976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62000" y="6413500"/>
          <a:ext cx="14732000" cy="20066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7366000"/>
              </a:tblGrid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参数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说明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影响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threshold (t)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启用 skipping 的时间阈值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 越大，越多步骤使用 skipping，加速越明显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merge_ratio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控制跳跃步长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ratio 越小，skip 越大，单次跳跃越远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skip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实际跳跃步数 = int(1/ratio)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直接影响加速比和生成质量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TCTM速度-质量权衡分析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1460500"/>
          <a:ext cx="8128000" cy="3556000"/>
        </p:xfrm>
        <a:graphic>
          <a:graphicData uri="http://schemas.openxmlformats.org/drawingml/2006/table">
            <a:tbl>
              <a:tblPr/>
              <a:tblGrid>
                <a:gridCol w="3088640"/>
                <a:gridCol w="1300480"/>
                <a:gridCol w="1300480"/>
                <a:gridCol w="1219200"/>
                <a:gridCol w="12192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配置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时间(s)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加速比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σ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均值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 (无TCTM)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2.03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1.00x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56.4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103.9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thr=0.3, skip=2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1.68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1.21x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51.1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thr=0.5, skip=2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1.74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1.17x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51.1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thr=0.5, skip=3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1.19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1.70x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47.2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thr=0.7, skip=3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1.05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1.93x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47.2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thr=0.7, skip=4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1.05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1.94x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44.5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103.5</a:t>
                      </a:r>
                      <a:endParaRPr lang="en-US" sz="18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https://kimi-img.moonshot.cn/pub/slides/okc/rewbwzovlcgys/mnt/agents/upload/01_tctm_pareto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271000" y="1460500"/>
            <a:ext cx="6223000" cy="3556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271000" y="1460500"/>
            <a:ext cx="6223000" cy="355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271000" y="5080000"/>
            <a:ext cx="6223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图3：TCTM 速度-质量 Pareto 前沿</a:t>
            </a:r>
            <a:endParaRPr lang="en-US" sz="1400" dirty="0">
              <a:solidFill>
                <a:srgbClr val="5A63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359015" y="5856605"/>
            <a:ext cx="8084185" cy="1587500"/>
            <a:chOff x="1400" y="8720"/>
            <a:chExt cx="17400" cy="2500"/>
          </a:xfrm>
        </p:grpSpPr>
        <p:sp>
          <p:nvSpPr>
            <p:cNvPr id="15" name="Shape 10"/>
            <p:cNvSpPr/>
            <p:nvPr/>
          </p:nvSpPr>
          <p:spPr>
            <a:xfrm>
              <a:off x="1400" y="8720"/>
              <a:ext cx="17400" cy="2500"/>
            </a:xfrm>
            <a:prstGeom prst="rect">
              <a:avLst/>
            </a:prstGeom>
            <a:solidFill>
              <a:srgbClr val="115740"/>
            </a:solidFill>
          </p:spPr>
        </p:sp>
        <p:sp>
          <p:nvSpPr>
            <p:cNvPr id="16" name="Shape 11"/>
            <p:cNvSpPr/>
            <p:nvPr/>
          </p:nvSpPr>
          <p:spPr>
            <a:xfrm>
              <a:off x="1600" y="9100"/>
              <a:ext cx="560" cy="56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91073" y="-13127"/>
                  </a:moveTo>
                  <a:cubicBezTo>
                    <a:pt x="188542" y="-18683"/>
                    <a:pt x="183418" y="-22225"/>
                    <a:pt x="177862" y="-22225"/>
                  </a:cubicBezTo>
                  <a:cubicBezTo>
                    <a:pt x="172305" y="-22225"/>
                    <a:pt x="167181" y="-18683"/>
                    <a:pt x="164650" y="-13127"/>
                  </a:cubicBezTo>
                  <a:lnTo>
                    <a:pt x="119212" y="87025"/>
                  </a:lnTo>
                  <a:lnTo>
                    <a:pt x="20496" y="104666"/>
                  </a:lnTo>
                  <a:cubicBezTo>
                    <a:pt x="15002" y="105638"/>
                    <a:pt x="10433" y="110014"/>
                    <a:pt x="8705" y="115987"/>
                  </a:cubicBezTo>
                  <a:cubicBezTo>
                    <a:pt x="6976" y="121960"/>
                    <a:pt x="8396" y="128488"/>
                    <a:pt x="12285" y="132933"/>
                  </a:cubicBezTo>
                  <a:lnTo>
                    <a:pt x="82912" y="212457"/>
                  </a:lnTo>
                  <a:lnTo>
                    <a:pt x="67354" y="323513"/>
                  </a:lnTo>
                  <a:cubicBezTo>
                    <a:pt x="66490" y="329694"/>
                    <a:pt x="68774" y="335945"/>
                    <a:pt x="73281" y="339626"/>
                  </a:cubicBezTo>
                  <a:cubicBezTo>
                    <a:pt x="77788" y="343307"/>
                    <a:pt x="83714" y="343862"/>
                    <a:pt x="88715" y="341015"/>
                  </a:cubicBezTo>
                  <a:lnTo>
                    <a:pt x="177862" y="290036"/>
                  </a:lnTo>
                  <a:lnTo>
                    <a:pt x="266947" y="341015"/>
                  </a:lnTo>
                  <a:cubicBezTo>
                    <a:pt x="271886" y="343862"/>
                    <a:pt x="277874" y="343307"/>
                    <a:pt x="282381" y="339626"/>
                  </a:cubicBezTo>
                  <a:cubicBezTo>
                    <a:pt x="286888" y="335945"/>
                    <a:pt x="289172" y="329763"/>
                    <a:pt x="288308" y="323513"/>
                  </a:cubicBezTo>
                  <a:lnTo>
                    <a:pt x="272688" y="212457"/>
                  </a:lnTo>
                  <a:lnTo>
                    <a:pt x="343315" y="132933"/>
                  </a:lnTo>
                  <a:cubicBezTo>
                    <a:pt x="347266" y="128488"/>
                    <a:pt x="348624" y="121960"/>
                    <a:pt x="346895" y="115987"/>
                  </a:cubicBezTo>
                  <a:cubicBezTo>
                    <a:pt x="345167" y="110014"/>
                    <a:pt x="340660" y="105638"/>
                    <a:pt x="335104" y="104666"/>
                  </a:cubicBezTo>
                  <a:lnTo>
                    <a:pt x="236449" y="87025"/>
                  </a:lnTo>
                  <a:lnTo>
                    <a:pt x="191073" y="-131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 12"/>
            <p:cNvSpPr/>
            <p:nvPr/>
          </p:nvSpPr>
          <p:spPr>
            <a:xfrm>
              <a:off x="2360" y="8900"/>
              <a:ext cx="60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推荐配置</a:t>
              </a:r>
              <a:endPara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11" name="Text 13"/>
            <p:cNvSpPr/>
            <p:nvPr/>
          </p:nvSpPr>
          <p:spPr>
            <a:xfrm>
              <a:off x="2359" y="9560"/>
              <a:ext cx="15402" cy="13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threshold = 0.7, skip = 3：达到 </a:t>
              </a:r>
              <a:r>
                <a:rPr 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1.93x</a:t>
              </a:r>
              <a:r>
                <a:rPr lang="en-US" sz="18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采样加速，均值基本稳定（103.4 vs 103.9），质量代价主要表现为多样性从 56.4 降至 47.2。</a:t>
              </a:r>
              <a:endPara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9" name="Image 2" descr="https://kimi-img.moonshot.cn/pub/slides/okc/rewbwzovlcgys/mnt/agents/upload/03_tctm_swee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5016500"/>
            <a:ext cx="6223000" cy="3268345"/>
          </a:xfrm>
          <a:prstGeom prst="rect">
            <a:avLst/>
          </a:prstGeom>
        </p:spPr>
      </p:pic>
      <p:pic>
        <p:nvPicPr>
          <p:cNvPr id="22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05</a:t>
            </a:r>
            <a:endParaRPr lang="en-US" sz="8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综合结论与展望</a:t>
            </a:r>
            <a:endParaRPr lang="en-US"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方法对比、局限分析与未来方向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1524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三种方法综合对比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762000" y="1460500"/>
          <a:ext cx="14732000" cy="7009765"/>
        </p:xfrm>
        <a:graphic>
          <a:graphicData uri="http://schemas.openxmlformats.org/drawingml/2006/table">
            <a:tbl>
              <a:tblPr/>
              <a:tblGrid>
                <a:gridCol w="2209800"/>
                <a:gridCol w="2946400"/>
                <a:gridCol w="2946400"/>
                <a:gridCol w="2209800"/>
                <a:gridCol w="4419600"/>
              </a:tblGrid>
              <a:tr h="126174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方法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主要目标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核心结果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代价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建议用途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191389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157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Baseline FT</a:t>
                      </a:r>
                      <a:endParaRPr lang="en-US" sz="2000" b="1" dirty="0">
                        <a:solidFill>
                          <a:srgbClr val="1157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复现JiT链路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稳定收敛，loss 0.0518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无额外改动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作为所有实验基准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325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157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SNP</a:t>
                      </a:r>
                      <a:endParaRPr lang="en-US" sz="2000" b="1" dirty="0">
                        <a:solidFill>
                          <a:srgbClr val="1157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提升生成多样性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σ 58.3→63.9 (+9.6%)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需额外fine-tuning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多样性、数据增强、创意生成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192087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157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TCTM</a:t>
                      </a:r>
                      <a:endParaRPr lang="en-US" sz="2000" b="1" dirty="0">
                        <a:solidFill>
                          <a:srgbClr val="1157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提升采样速度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推荐配置 1.93x 加速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多样性下降~16%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D2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推理加速、资源受限部署</a:t>
                      </a:r>
                      <a:endParaRPr lang="en-US" sz="2000" b="1" dirty="0">
                        <a:solidFill>
                          <a:srgbClr val="1A1D2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项目背景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Baseline复现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SNP改进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TCTM加速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241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结论与展望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04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局限性与后续工作</a:t>
            </a:r>
            <a:endParaRPr lang="en-US" sz="2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168400"/>
            <a:ext cx="2032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Text 8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当前局限性</a:t>
            </a:r>
            <a:endParaRPr lang="en-US" sz="18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1879600"/>
            <a:ext cx="1270000" cy="254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13" name="Shape 10"/>
          <p:cNvSpPr/>
          <p:nvPr/>
        </p:nvSpPr>
        <p:spPr>
          <a:xfrm>
            <a:off x="762000" y="2159000"/>
            <a:ext cx="7112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2260600"/>
            <a:ext cx="457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20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60500" y="2260600"/>
            <a:ext cx="6223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数据规模有限：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ImageNet 子集（~2000张），非完整 ImageNet-1K，结果需在更大规模上验证。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82000" y="2159000"/>
            <a:ext cx="7112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2500" y="2260600"/>
            <a:ext cx="457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20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080500" y="2260600"/>
            <a:ext cx="6223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 proxy 指标：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未使用完整 50k FID/IS 作为最终结论指标，评估不够全面。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2000" y="3302000"/>
            <a:ext cx="7112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2500" y="3403600"/>
            <a:ext cx="457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20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460500" y="3403600"/>
            <a:ext cx="6223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TCTM 实现简化：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当前为 step skipping，非真正 token merging，存在优化空间。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382000" y="3302000"/>
            <a:ext cx="7112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72500" y="3403600"/>
            <a:ext cx="457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20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080500" y="3403600"/>
            <a:ext cx="6223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随机性未充分评估：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结果来自固定 seed 42，缺少多 seed 置信区间。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62000" y="4445000"/>
            <a:ext cx="7112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2500" y="4546600"/>
            <a:ext cx="457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</a:t>
            </a:r>
            <a:endParaRPr lang="en-US" sz="2000" b="1" dirty="0">
              <a:solidFill>
                <a:srgbClr val="00255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60500" y="4546600"/>
            <a:ext cx="6223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组合实验未完成：</a:t>
            </a:r>
            <a:r>
              <a:rPr lang="en-US" sz="16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SNP + TCTM 的联合收益和 trade-off 仍需系统验证。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62000" y="5778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后续工作方向</a:t>
            </a:r>
            <a:endParaRPr lang="en-US" sz="1800" b="1" dirty="0">
              <a:solidFill>
                <a:srgbClr val="11574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62000" y="6197600"/>
            <a:ext cx="1270000" cy="254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0" name="Text 27"/>
          <p:cNvSpPr/>
          <p:nvPr/>
        </p:nvSpPr>
        <p:spPr>
          <a:xfrm>
            <a:off x="762000" y="6413500"/>
            <a:ext cx="14732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在完整或更大规模 ImageNet 子集上计算 FID、IS、precision/recall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 SNP 做超参消融：矩形数量、mask size、σ_in、σ_out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 SNP checkpoint 上重新跑 TCTM sweep，确认二者是否互补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将 TCTM step skipping 升级为真正的 token merging + restore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15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en-US" sz="1700" dirty="0">
                <a:solidFill>
                  <a:srgbClr val="1A1D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对所有关键结果做至少 3 个 seed 的重复实验</a:t>
            </a:r>
            <a:endParaRPr lang="en-US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457200" y="274955"/>
            <a:ext cx="15799435" cy="8869045"/>
            <a:chOff x="720" y="433"/>
            <a:chExt cx="12960" cy="9215"/>
          </a:xfrm>
        </p:grpSpPr>
        <p:sp>
          <p:nvSpPr>
            <p:cNvPr id="2" name="Title 1"/>
            <p:cNvSpPr>
              <a:spLocks noGrp="1"/>
            </p:cNvSpPr>
            <p:nvPr/>
          </p:nvSpPr>
          <p:spPr>
            <a:xfrm>
              <a:off x="720" y="433"/>
              <a:ext cx="12960" cy="18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Appendix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Content Placeholder 2"/>
            <p:cNvSpPr>
              <a:spLocks noGrp="1"/>
            </p:cNvSpPr>
            <p:nvPr/>
          </p:nvSpPr>
          <p:spPr>
            <a:xfrm>
              <a:off x="720" y="2520"/>
              <a:ext cx="12960" cy="712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实验配置与复现说明</a:t>
              </a:r>
              <a:endPara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模型：JiT-B/16（块大小=16，特征维度=768，12层），来自 HuggingFace BiliSakura/JiT-diffusers</a:t>
              </a:r>
              <a:endPara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微调：20轮（epoch），AdamW优化器，学习率=6.25e-6，批量大小=32</a:t>
              </a:r>
              <a:endPara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数据集：ImageNet-1K 子集（2000张，每类2张），256×256</a:t>
              </a:r>
              <a:endPara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硬件：单块 NVIDIA GPU，bfloat16 混合精度训练</a:t>
              </a:r>
              <a:endPara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复现命令：</a:t>
              </a:r>
              <a:endPara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bash scripts/01_train_baseline.sh   # 基线微调</a:t>
              </a:r>
              <a:endPara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bash scripts/02_train_snp.sh        # SNP微调</a:t>
              </a:r>
              <a:endPara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bash scripts/03_train_tctm.sh       # TCTM评估</a:t>
              </a:r>
              <a:endPara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/>
        </p:nvSpPr>
        <p:spPr>
          <a:xfrm>
            <a:off x="457200" y="274475"/>
            <a:ext cx="15799435" cy="173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01_tctm_pare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680" y="1515745"/>
            <a:ext cx="9641840" cy="68491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/>
        </p:nvSpPr>
        <p:spPr>
          <a:xfrm>
            <a:off x="457200" y="274475"/>
            <a:ext cx="15799435" cy="173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02_training_curv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765" y="1967230"/>
            <a:ext cx="12650470" cy="57937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/>
        </p:nvSpPr>
        <p:spPr>
          <a:xfrm>
            <a:off x="457200" y="274475"/>
            <a:ext cx="15799435" cy="173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03_tctm_swee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955" y="1843405"/>
            <a:ext cx="10321925" cy="62445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/>
        </p:nvSpPr>
        <p:spPr>
          <a:xfrm>
            <a:off x="457200" y="274475"/>
            <a:ext cx="15799435" cy="173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04_snp_ba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9995" y="1835785"/>
            <a:ext cx="9173210" cy="6496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614170" y="1485900"/>
          <a:ext cx="13484860" cy="689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215"/>
                <a:gridCol w="3371215"/>
                <a:gridCol w="3371215"/>
                <a:gridCol w="3371215"/>
              </a:tblGrid>
              <a:tr h="1360170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复现模块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主要职责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交付内容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457325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全坤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模型结构复现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JiT-B/16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网络结构，包括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patch embedding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Transformer block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RoPE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adaLN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in-context class tokens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模型结构代码说明、参数配置表、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forward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流程图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360805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杜承敖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训练流程复现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flow matching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训练逻辑，包括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采样、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z_t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构造、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x0 prediction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velocity loss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EMA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 fine-tuning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训练曲线、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loss / x0 MSE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结果、训练脚本说明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360170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肖昌珅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数据与评估复现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ImageNet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子集准备、数据加载、预处理、生成图像保存、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proxy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指标或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FID/IS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评估流程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数据集说明、评估指标说明、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采样结果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360170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金奕辰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采样流程复现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Euler / Heun ODE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采样、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classifier-free guidance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、采样步数和 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CFG 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配置复现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采样算法说明、不同采样配置对比、生成流程结果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/>
        </p:nvSpPr>
        <p:spPr>
          <a:xfrm>
            <a:off x="457200" y="274320"/>
            <a:ext cx="15799435" cy="1211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团队分工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858000" y="4127500"/>
            <a:ext cx="2540000" cy="25400"/>
          </a:xfrm>
          <a:prstGeom prst="rect">
            <a:avLst/>
          </a:prstGeom>
          <a:solidFill>
            <a:srgbClr val="FFFFFF">
              <a:alpha val="37647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1778000" y="4445000"/>
            <a:ext cx="1270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Back to Basics: Let Denoising Generative Models Denoise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048000" y="6039485"/>
            <a:ext cx="101600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杜承敖 · 肖昌珅 · 金奕辰 · 全坤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54195" y="684657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武汉大学 · 机器学习课程大作业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pic>
        <p:nvPicPr>
          <p:cNvPr id="10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970395" y="1509395"/>
            <a:ext cx="2324735" cy="2324735"/>
          </a:xfrm>
          <a:prstGeom prst="rect">
            <a:avLst/>
          </a:prstGeom>
        </p:spPr>
      </p:pic>
      <p:sp>
        <p:nvSpPr>
          <p:cNvPr id="2" name="Text 3"/>
          <p:cNvSpPr/>
          <p:nvPr/>
        </p:nvSpPr>
        <p:spPr>
          <a:xfrm>
            <a:off x="3048000" y="5277485"/>
            <a:ext cx="101600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  <a:hlinkClick r:id="rId2" tooltip="" action="ppaction://hlinkfile"/>
              </a:rPr>
              <a:t>https://github.com/baoyingshenjing/ML_JIT</a:t>
            </a:r>
            <a:endParaRPr lang="en-US" altLang="zh-CN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2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3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4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5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6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7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8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9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0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1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2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3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4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5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6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7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8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19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20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21.xml><?xml version="1.0" encoding="utf-8"?>
<p:tagLst xmlns:p="http://schemas.openxmlformats.org/presentationml/2006/main">
  <p:tag name="KSO_WM_DIAGRAM_VIRTUALLY_FRAME" val="{&quot;height&quot;:330,&quot;left&quot;:380,&quot;top&quot;:100,&quot;width&quot;:880}"/>
</p:tagLst>
</file>

<file path=ppt/tags/tag22.xml><?xml version="1.0" encoding="utf-8"?>
<p:tagLst xmlns:p="http://schemas.openxmlformats.org/presentationml/2006/main">
  <p:tag name="TABLE_ENDDRAG_ORIGIN_RECT" val="580*314"/>
  <p:tag name="TABLE_ENDDRAG_RECT" val="60*115*580*314"/>
</p:tagLst>
</file>

<file path=ppt/tags/tag23.xml><?xml version="1.0" encoding="utf-8"?>
<p:tagLst xmlns:p="http://schemas.openxmlformats.org/presentationml/2006/main">
  <p:tag name="TABLE_ENDDRAG_ORIGIN_RECT" val="1061*543"/>
  <p:tag name="TABLE_ENDDRAG_RECT" val="106*122*1061*54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7344</Words>
  <Application>WPS 演示</Application>
  <PresentationFormat>On-screen Show (16:9)</PresentationFormat>
  <Paragraphs>816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MiSans</vt:lpstr>
      <vt:lpstr>MiSans Medium</vt:lpstr>
      <vt:lpstr>Quattrocento Sans</vt:lpstr>
      <vt:lpstr>Arial</vt:lpstr>
      <vt:lpstr>Cambria Math</vt:lpstr>
      <vt:lpstr>MS Mincho</vt:lpstr>
      <vt:lpstr>Arial Unicode MS</vt:lpstr>
      <vt:lpstr>Calibri</vt:lpstr>
      <vt:lpstr>等线</vt:lpstr>
      <vt:lpstr>MingLiU-ExtB</vt:lpstr>
      <vt:lpstr>Segoe Print</vt:lpstr>
      <vt:lpstr>MiSans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Basics: Let Denoising Generative Models Denoise - JiT模型复现与改进实验</dc:title>
  <dc:creator>Kimi</dc:creator>
  <dc:subject>Back to Basics: Let Denoising Generative Models Denoise - JiT模型复现与改进实验</dc:subject>
  <cp:lastModifiedBy>杜承敖</cp:lastModifiedBy>
  <cp:revision>5</cp:revision>
  <dcterms:created xsi:type="dcterms:W3CDTF">2026-07-06T06:37:00Z</dcterms:created>
  <dcterms:modified xsi:type="dcterms:W3CDTF">2026-07-06T15:02:09Z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{"Label":"Back to Basics: Let Denoising Generative Models Denoise - JiT模型复现与改进实验","ContentProducer":"001191110108MACG2KBH8F10000","ProduceID":"19f35621-b452-8915-8000-00004835e630","ReservedCode1":"","ContentPropagator":"001191110108MACG2KBH8F20000","PropagateID":"19f35500-91b2-8e62-8000-09786b563926","ReservedCode2":""}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7FA03800BF5B4BF68665BA604600BE2A_12</vt:lpwstr>
  </property>
</Properties>
</file>